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6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002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09744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agazig_university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1133857" cy="566928"/>
          </a:xfrm>
          <a:prstGeom prst="rect">
            <a:avLst/>
          </a:prstGeom>
        </p:spPr>
      </p:pic>
      <p:pic>
        <p:nvPicPr>
          <p:cNvPr id="6" name="Picture 5" descr="faculty_computers_informatics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411480"/>
            <a:ext cx="1146707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12344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0CDD7"/>
                </a:solidFill>
                <a:latin typeface="Calibri"/>
              </a:rPr>
              <a:t>ZAGAZIG UNIVERSITY  •  FACULTY OF COMPUTERS AND INFORMATICS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536192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CDD7"/>
                </a:solidFill>
                <a:latin typeface="Calibri"/>
              </a:rPr>
              <a:t>Artificial Intelligence and Data Science Program</a:t>
            </a:r>
          </a:p>
        </p:txBody>
      </p:sp>
      <p:pic>
        <p:nvPicPr>
          <p:cNvPr id="9" name="Picture 8" descr="ic_launch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1965960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28803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>
                <a:solidFill>
                  <a:srgbClr val="FFFFFF"/>
                </a:solidFill>
                <a:latin typeface="Calibri"/>
              </a:rPr>
              <a:t>Health 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2E1EB"/>
                </a:solidFill>
                <a:latin typeface="Calibri"/>
              </a:rPr>
              <a:t>An AI-Assisted Remote Monitoring System for Chronic Cardiovascular 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838F"/>
                </a:solidFill>
                <a:latin typeface="Calibri"/>
              </a:rPr>
              <a:t>GRADUATION PROJECT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21808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Omar Ashraf Mohamed Kamal (Team Leader)   •   Seif EL-Deen Amr Mohamed</a:t>
            </a:r>
          </a:p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Rofida Mohamed Ahmed Ibrahim   •   Farida Abdelazim Gharib Mohamed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4D2DC"/>
                </a:solidFill>
                <a:latin typeface="Calibri"/>
              </a:rPr>
              <a:t>Supervised by Ass. Prof. Dr. Amr Abdellatif  &amp;  Eng. Mohamed Ameen        2025 –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 We'll Cover in the Next Few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2697480" cy="233172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838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333B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240487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6505A"/>
                </a:solidFill>
                <a:latin typeface="Calibri"/>
              </a:rPr>
              <a:t>The silent killer, and an invisible caregiver gap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697480" cy="233172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29844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838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0195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333B"/>
                </a:solidFill>
                <a:latin typeface="Calibri"/>
              </a:rPr>
              <a:t>The Market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77440"/>
            <a:ext cx="240487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6505A"/>
                </a:solidFill>
                <a:latin typeface="Calibri"/>
              </a:rPr>
              <a:t>What's out there — and why it isn't enough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188720"/>
            <a:ext cx="2697480" cy="233172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29844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838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0195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333B"/>
                </a:solidFill>
                <a:latin typeface="Calibri"/>
              </a:rPr>
              <a:t>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77440"/>
            <a:ext cx="240487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6505A"/>
                </a:solidFill>
                <a:latin typeface="Calibri"/>
              </a:rPr>
              <a:t>One coherent system: app + backend + AI + hardware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188720"/>
            <a:ext cx="2697480" cy="233172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29844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838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90195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333B"/>
                </a:solidFill>
                <a:latin typeface="Calibri"/>
              </a:rPr>
              <a:t>Architecture &amp;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377440"/>
            <a:ext cx="240487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6505A"/>
                </a:solidFill>
                <a:latin typeface="Calibri"/>
              </a:rPr>
              <a:t>How it's actually built, end to 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03320"/>
            <a:ext cx="2697480" cy="233172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1304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838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41655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333B"/>
                </a:solidFill>
                <a:latin typeface="Calibri"/>
              </a:rPr>
              <a:t>Custom IoT Hardware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92040"/>
            <a:ext cx="240487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6505A"/>
                </a:solidFill>
                <a:latin typeface="Calibri"/>
              </a:rPr>
              <a:t>A cuffless BP sensor and a smart medicine box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3703320"/>
            <a:ext cx="2697480" cy="233172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381304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838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41655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333B"/>
                </a:solidFill>
                <a:latin typeface="Calibri"/>
              </a:rPr>
              <a:t>Two AI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892040"/>
            <a:ext cx="240487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6505A"/>
                </a:solidFill>
                <a:latin typeface="Calibri"/>
              </a:rPr>
              <a:t>Cuffless blood pressure &amp; symptom triage — results and limitations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03320"/>
            <a:ext cx="2697480" cy="233172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81304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838F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41655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333B"/>
                </a:solidFill>
                <a:latin typeface="Calibri"/>
              </a:rPr>
              <a:t>The Experience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892040"/>
            <a:ext cx="240487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6505A"/>
                </a:solidFill>
                <a:latin typeface="Calibri"/>
              </a:rPr>
              <a:t>A walkthrough of the real, running 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3703320"/>
            <a:ext cx="2697480" cy="233172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381304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838F"/>
                </a:solidFill>
                <a:latin typeface="Calibr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41655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333B"/>
                </a:solidFill>
                <a:latin typeface="Calibri"/>
              </a:rPr>
              <a:t>Impact &amp; What's Next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4892040"/>
            <a:ext cx="240487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6505A"/>
                </a:solidFill>
                <a:latin typeface="Calibri"/>
              </a:rPr>
              <a:t>Who benefits today, and the road ahead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6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6C8D2"/>
                </a:solidFill>
                <a:latin typeface="Calibri"/>
              </a:rPr>
              <a:t>THE PROBLEM  —  “THE SILENT KILLER”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3000"/>
              </a:lnSpc>
            </a:pPr>
            <a:r>
              <a:rPr sz="3300" b="1" i="0">
                <a:solidFill>
                  <a:srgbClr val="FFFFFF"/>
                </a:solidFill>
                <a:latin typeface="Calibri"/>
              </a:rPr>
              <a:t>Hypertension has no symptoms —</a:t>
            </a:r>
          </a:p>
          <a:p>
            <a:pPr algn="l">
              <a:lnSpc>
                <a:spcPct val="103000"/>
              </a:lnSpc>
            </a:pPr>
            <a:r>
              <a:rPr sz="3300" b="1" i="0">
                <a:solidFill>
                  <a:srgbClr val="FFFFFF"/>
                </a:solidFill>
                <a:latin typeface="Calibri"/>
              </a:rPr>
              <a:t>until it becomes an emergency.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D2E1EB"/>
                </a:solidFill>
                <a:latin typeface="Calibri"/>
              </a:rPr>
              <a:t>The World Health Organization calls hypertension “the silent killer” for exactly this reason: most people with high blood pressure feel completely normal, right up until a stroke, heart attack, or kidney failure.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77639"/>
            <a:ext cx="3383280" cy="2148840"/>
          </a:xfrm>
          <a:prstGeom prst="roundRect">
            <a:avLst>
              <a:gd name="adj" fmla="val 4500"/>
            </a:avLst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977639"/>
            <a:ext cx="3383280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9709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Snapshot vs. Trend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90872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3D7E1"/>
                </a:solidFill>
                <a:latin typeface="Calibri"/>
              </a:rPr>
              <a:t>A clinic visit captures one moment. Disease progression is a trend across weeks, not a single number.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977639"/>
            <a:ext cx="3383280" cy="2148840"/>
          </a:xfrm>
          <a:prstGeom prst="roundRect">
            <a:avLst>
              <a:gd name="adj" fmla="val 4500"/>
            </a:avLst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3977639"/>
            <a:ext cx="3383280" cy="41148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9709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Patients Skip Readings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690872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3D7E1"/>
                </a:solidFill>
                <a:latin typeface="Calibri"/>
              </a:rPr>
              <a:t>Cuff placement, sitting still, remembering to log — any one step failing means a missed reading.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977639"/>
            <a:ext cx="3383280" cy="2148840"/>
          </a:xfrm>
          <a:prstGeom prst="roundRect">
            <a:avLst>
              <a:gd name="adj" fmla="val 4500"/>
            </a:avLst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3977639"/>
            <a:ext cx="3383280" cy="41148"/>
          </a:xfrm>
          <a:prstGeom prst="rect">
            <a:avLst/>
          </a:prstGeom>
          <a:solidFill>
            <a:srgbClr val="5E3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19709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Caregivers Are Blind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690872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3D7E1"/>
                </a:solidFill>
                <a:latin typeface="Calibri"/>
              </a:rPr>
              <a:t>Family caregivers have no channel to the data unless told directly. They can only react, never notice.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CDD7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A0CDD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WHY CURRENT CARE FALLS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Two Failure Modes, Recurring Constantly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394960" cy="306324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" cy="306324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3502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2D333B"/>
                </a:solidFill>
                <a:latin typeface="Calibri"/>
              </a:rPr>
              <a:t>Patient 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55648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Correct cuff placement is easy to get wrong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Sitting still for an accurate reading takes discipline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Remembering a daily schedule, unassisted, is unreliable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Medication doses are just as easy to forget or misplace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88720"/>
            <a:ext cx="5394960" cy="306324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64008" cy="3063240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33502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2D333B"/>
                </a:solidFill>
                <a:latin typeface="Calibri"/>
              </a:rPr>
              <a:t>Caregiver 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755648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D4820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No channel to the patient's data short of phoning and asking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D4820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Can only react to what they are told — often after the fact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D4820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No automatic warning when a reading crosses a dangerous line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D4820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No way to reach the patient quickly during a real emergency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38F"/>
                </a:solidFill>
                <a:latin typeface="Calibri"/>
              </a:rPr>
              <a:t>THE SILENT KILLER, BY THE NUMBERS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80060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00600"/>
            <a:ext cx="64008" cy="14173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910328"/>
            <a:ext cx="3246120" cy="822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62828"/>
                </a:solidFill>
                <a:latin typeface="Calibri"/>
              </a:rPr>
              <a:t>1.28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5679338"/>
            <a:ext cx="3246120" cy="49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adults worldwide live with hypertension (WHO)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480060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4800600"/>
            <a:ext cx="64008" cy="14173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4910328"/>
            <a:ext cx="3246120" cy="822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62828"/>
                </a:solidFill>
                <a:latin typeface="Calibri"/>
              </a:rPr>
              <a:t>46%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5679338"/>
            <a:ext cx="3246120" cy="49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don't know they have it — no symptoms until it's serious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4800600"/>
            <a:ext cx="3657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1000" y="4800600"/>
            <a:ext cx="64008" cy="14173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02168" y="4910328"/>
            <a:ext cx="3291840" cy="822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62828"/>
                </a:solidFill>
                <a:latin typeface="Calibri"/>
              </a:rPr>
              <a:t>10 M+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5679338"/>
            <a:ext cx="3291840" cy="49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deaths every year from uncontrolled blood pressure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281928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E7680"/>
                </a:solidFill>
                <a:latin typeface="Calibri"/>
              </a:rPr>
              <a:t>Source: WHO Global Report on Hypertension, 2023 /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THE MARKET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How This Is Solved Right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697480" cy="4297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2697480" cy="64008"/>
          </a:xfrm>
          <a:prstGeom prst="rect">
            <a:avLst/>
          </a:prstGeom>
          <a:solidFill>
            <a:srgbClr val="6E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2D333B"/>
                </a:solidFill>
                <a:latin typeface="Calibri"/>
              </a:rPr>
              <a:t>Traditional Cuff + Paper 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23317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46505A"/>
                </a:solidFill>
                <a:latin typeface="Calibri"/>
              </a:rPr>
              <a:t>Manual measurement, manual logging. Cheap and accurate, but entirely dependent on patient discipline and 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34440"/>
            <a:ext cx="2697480" cy="4297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234440"/>
            <a:ext cx="2697480" cy="640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444752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2D333B"/>
                </a:solidFill>
                <a:latin typeface="Calibri"/>
              </a:rPr>
              <a:t>Consumer Wearables</a:t>
            </a:r>
          </a:p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2D333B"/>
                </a:solidFill>
                <a:latin typeface="Calibri"/>
              </a:rPr>
              <a:t>(e.g. Omron HeartGuide)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514600"/>
            <a:ext cx="23317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46505A"/>
                </a:solidFill>
                <a:latin typeface="Calibri"/>
              </a:rPr>
              <a:t>A cuff built into a wristwatch. FDA-cleared and convenient, but still a cuff, and still no caregiver-facing safety net.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2697480" cy="4297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2697480" cy="64008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44752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2D333B"/>
                </a:solidFill>
                <a:latin typeface="Calibri"/>
              </a:rPr>
              <a:t>Connected Home Monitors</a:t>
            </a:r>
          </a:p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2D333B"/>
                </a:solidFill>
                <a:latin typeface="Calibri"/>
              </a:rPr>
              <a:t>(e.g. Withings BPM Connect)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514600"/>
            <a:ext cx="23317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46505A"/>
                </a:solidFill>
                <a:latin typeface="Calibri"/>
              </a:rPr>
              <a:t>Automated Wi-Fi upload of cuff readings to an app. Great trend logging, but no cuffless sensing and no clinical triage layer.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234440"/>
            <a:ext cx="2697480" cy="4297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234440"/>
            <a:ext cx="2697480" cy="64008"/>
          </a:xfrm>
          <a:prstGeom prst="rect">
            <a:avLst/>
          </a:prstGeom>
          <a:solidFill>
            <a:srgbClr val="5E3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444752"/>
            <a:ext cx="2331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2D333B"/>
                </a:solidFill>
                <a:latin typeface="Calibri"/>
              </a:rPr>
              <a:t>Clinical RPM Platforms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514600"/>
            <a:ext cx="23317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46505A"/>
                </a:solidFill>
                <a:latin typeface="Calibri"/>
              </a:rPr>
              <a:t>Care-team dashboards for chronic conditions. Powerful for providers, but built around clinical staff — not a family caregiver.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D333B"/>
                </a:solidFill>
                <a:latin typeface="Calibri"/>
              </a:rPr>
              <a:t>All four share the same gap: none combine cuffless sensing, AI-driven safety alerts, and a built-in family-caregiver channel in one system.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Health Mate vs. the Market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84280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63240"/>
                <a:gridCol w="1645920"/>
                <a:gridCol w="1600200"/>
                <a:gridCol w="1783080"/>
                <a:gridCol w="1600200"/>
                <a:gridCol w="1691640"/>
              </a:tblGrid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Traditional
Cuff + Log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Consumer
Wearables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Connected
Home Monitors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Clinical RPM
Platforms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Health Mate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Cuffless AI-based sensing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C628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C628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C628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C628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>
                          <a:solidFill>
                            <a:srgbClr val="00838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E9F3F4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Live caregiver linking + alerts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C628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D4820F"/>
                          </a:solidFill>
                          <a:latin typeface="Calibri"/>
                        </a:rPr>
                        <a:t>△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D4820F"/>
                          </a:solidFill>
                          <a:latin typeface="Calibri"/>
                        </a:rPr>
                        <a:t>△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D4820F"/>
                          </a:solidFill>
                          <a:latin typeface="Calibri"/>
                        </a:rPr>
                        <a:t>△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>
                          <a:solidFill>
                            <a:srgbClr val="00838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E9F3F4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Symptom / red-flag triage engine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C628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C628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C628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D4820F"/>
                          </a:solidFill>
                          <a:latin typeface="Calibri"/>
                        </a:rPr>
                        <a:t>△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>
                          <a:solidFill>
                            <a:srgbClr val="00838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E9F3F4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Smart medication reminder hardware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C628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C628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C628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C628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>
                          <a:solidFill>
                            <a:srgbClr val="00838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E9F3F4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Built-in emergency calling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C628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C628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C628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C628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>
                          <a:solidFill>
                            <a:srgbClr val="00838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E9F3F4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Full Arabic + English parity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C628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C628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C6282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50" b="0">
                          <a:solidFill>
                            <a:srgbClr val="D4820F"/>
                          </a:solidFill>
                          <a:latin typeface="Calibri"/>
                        </a:rPr>
                        <a:t>△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>
                          <a:solidFill>
                            <a:srgbClr val="00838F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E9F3F4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Clinically validated / cleared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>
                          <a:solidFill>
                            <a:srgbClr val="2E7D32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>
                          <a:solidFill>
                            <a:srgbClr val="2E7D32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>
                          <a:solidFill>
                            <a:srgbClr val="2E7D32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>
                          <a:solidFill>
                            <a:srgbClr val="2E7D32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00838F"/>
                          </a:solidFill>
                          <a:latin typeface="Calibri"/>
                        </a:rPr>
                        <a:t>Research prototype</a:t>
                      </a:r>
                    </a:p>
                  </a:txBody>
                  <a:tcPr anchor="ctr" marL="73152" marR="73152">
                    <a:solidFill>
                      <a:srgbClr val="E9F3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5532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7680"/>
                </a:solidFill>
                <a:latin typeface="Calibri"/>
              </a:rPr>
              <a:t>△ = partial / not designed for this use case  •  Based on each product's public specifications; Health Mate is an unvalidated graduation-project prototype.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6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6C8D2"/>
                </a:solidFill>
                <a:latin typeface="Calibri"/>
              </a:rPr>
              <a:t>OUR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3000"/>
              </a:lnSpc>
            </a:pPr>
            <a:r>
              <a:rPr sz="3300" b="1" i="0">
                <a:solidFill>
                  <a:srgbClr val="FFFFFF"/>
                </a:solidFill>
                <a:latin typeface="Calibri"/>
              </a:rPr>
              <a:t>Solve Both Halves Together —</a:t>
            </a:r>
          </a:p>
          <a:p>
            <a:pPr algn="l">
              <a:lnSpc>
                <a:spcPct val="103000"/>
              </a:lnSpc>
            </a:pPr>
            <a:r>
              <a:rPr sz="3300" b="1" i="0">
                <a:solidFill>
                  <a:srgbClr val="FFFFFF"/>
                </a:solidFill>
                <a:latin typeface="Calibri"/>
              </a:rPr>
              <a:t>Not Separately.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D2E1EB"/>
                </a:solidFill>
                <a:latin typeface="Calibri"/>
              </a:rPr>
              <a:t>A cuffless sensor and a family health-sharing app already exist separately elsewhere. The distinctive bet here: fuse sensing, AI safety, and caregiver visibility into one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31920"/>
            <a:ext cx="2606040" cy="2103120"/>
          </a:xfrm>
          <a:prstGeom prst="roundRect">
            <a:avLst>
              <a:gd name="adj" fmla="val 4500"/>
            </a:avLst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2606040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51376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BP Sensing 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45152"/>
            <a:ext cx="20574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3D7E1"/>
                </a:solidFill>
                <a:latin typeface="Calibri"/>
              </a:rPr>
              <a:t>ESP8266 + MAX30102 PPG + AD8232 ECG — no cuff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75887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0CDD7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3931920"/>
            <a:ext cx="2606040" cy="2103120"/>
          </a:xfrm>
          <a:prstGeom prst="roundRect">
            <a:avLst>
              <a:gd name="adj" fmla="val 4500"/>
            </a:avLst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47872" y="3931920"/>
            <a:ext cx="2606040" cy="41148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22191" y="4151376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FastAPI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4645152"/>
            <a:ext cx="20574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3D7E1"/>
                </a:solidFill>
                <a:latin typeface="Calibri"/>
              </a:rPr>
              <a:t>Every clinical decision + 2 trained AI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3675887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0CDD7"/>
                </a:solidFill>
                <a:latin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3" y="3931920"/>
            <a:ext cx="2606040" cy="2103120"/>
          </a:xfrm>
          <a:prstGeom prst="roundRect">
            <a:avLst>
              <a:gd name="adj" fmla="val 4500"/>
            </a:avLst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3" y="3931920"/>
            <a:ext cx="2606040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3" y="4151376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Smart Medicine 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3" y="4645152"/>
            <a:ext cx="20574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3D7E1"/>
                </a:solidFill>
                <a:latin typeface="Calibri"/>
              </a:rPr>
              <a:t>ESP32 + LEDs + buzzer — adherence indicator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3" y="3675887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0CDD7"/>
                </a:solidFill>
                <a:latin typeface="Calibr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3931920"/>
            <a:ext cx="2606040" cy="2103120"/>
          </a:xfrm>
          <a:prstGeom prst="roundRect">
            <a:avLst>
              <a:gd name="adj" fmla="val 4500"/>
            </a:avLst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696" y="3931920"/>
            <a:ext cx="2606040" cy="41148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2016" y="4151376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Flutter Mobile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4645152"/>
            <a:ext cx="20574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3D7E1"/>
                </a:solidFill>
                <a:latin typeface="Calibri"/>
              </a:rPr>
              <a:t>One shared codebase: patient &amp; caregiver 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3416" y="3675887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0CDD7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108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A0CDD7"/>
                </a:solidFill>
                <a:latin typeface="Calibri"/>
              </a:rPr>
              <a:t>Note: the BP sensing unit and the smart medicine box are two independent devices — they never talk to each other, only to the backend.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CDD7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A0CDD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PRODUCT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 a Patient and a Caregiver Can Actually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394960" cy="420624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" cy="420624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3502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2D333B"/>
                </a:solidFill>
                <a:latin typeface="Calibri"/>
              </a:rPr>
              <a:t>Patient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55648"/>
            <a:ext cx="493776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Guided, 8-second cuffless BP measurement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Manual entry + calibration against a cuff reading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Medication catalog with smart-box drawer assignment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Structured symptom assessment with urgency triage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One-tap audio/video call to a linked caregiver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Full experience in Arabic or English, RTL included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88720"/>
            <a:ext cx="5394960" cy="420624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64008" cy="4206240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33502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2D333B"/>
                </a:solidFill>
                <a:latin typeface="Calibri"/>
              </a:rPr>
              <a:t>Caregiver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755648"/>
            <a:ext cx="493776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D4820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Live view of a linked patient's BP, risk tier &amp; history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D4820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Automatic alert on a high or critical reading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D4820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Medication adherence visibility, not just reminders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D4820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Notification if a patient's calibration drifts or goes stale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D4820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Direct call-back to the patient in a concerning moment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D4820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Can monitor more than one linked patient at once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532120"/>
            <a:ext cx="11155680" cy="82296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650992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FFFFFF"/>
                </a:solidFill>
                <a:latin typeface="Calibri"/>
              </a:rPr>
              <a:t>Both sides connect through one shared, AI-monitored backend — the same reading that reassures a patient is the one that can alert their caregiver.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SYSTEM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Two Actors, One Shared App, One Backend of Record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737360" cy="1005840"/>
          </a:xfrm>
          <a:prstGeom prst="round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Patient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1737360" cy="1005840"/>
          </a:xfrm>
          <a:prstGeom prst="round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Caregiver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103120"/>
            <a:ext cx="2651760" cy="137160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3317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Flutter Mobile App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patient &amp; caregiver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103120"/>
            <a:ext cx="2743200" cy="1371600"/>
          </a:xfrm>
          <a:prstGeom prst="round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212848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FastAPI Backend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every clinical decision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+ 2 AI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097280"/>
            <a:ext cx="1920240" cy="1051560"/>
          </a:xfrm>
          <a:prstGeom prst="roundRect">
            <a:avLst/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0" y="12801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BP Sensing Unit</a:t>
            </a:r>
          </a:p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ESP8266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3246120"/>
            <a:ext cx="1920240" cy="1051560"/>
          </a:xfrm>
          <a:prstGeom prst="roundRect">
            <a:avLst/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34290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Smart Medicine Box</a:t>
            </a:r>
          </a:p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ESP32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1874519"/>
            <a:ext cx="1097280" cy="457201"/>
          </a:xfrm>
          <a:prstGeom prst="line">
            <a:avLst/>
          </a:prstGeom>
          <a:ln w="19050">
            <a:solidFill>
              <a:srgbClr val="DD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286000" y="3017520"/>
            <a:ext cx="1097280" cy="411480"/>
          </a:xfrm>
          <a:prstGeom prst="line">
            <a:avLst/>
          </a:prstGeom>
          <a:ln w="19050">
            <a:solidFill>
              <a:srgbClr val="DD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31720" y="1965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E7680"/>
                </a:solidFill>
                <a:latin typeface="Calibri"/>
              </a:rPr>
              <a:t>REST</a:t>
            </a:r>
          </a:p>
          <a:p>
            <a:pPr algn="ctr"/>
            <a:r>
              <a:rPr sz="1050" b="0" i="0">
                <a:solidFill>
                  <a:srgbClr val="6E7680"/>
                </a:solidFill>
                <a:latin typeface="Calibri"/>
              </a:rPr>
              <a:t>+ 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6517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E7680"/>
                </a:solidFill>
                <a:latin typeface="Calibri"/>
              </a:rPr>
              <a:t>→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8823960" y="1737360"/>
            <a:ext cx="960120" cy="640080"/>
          </a:xfrm>
          <a:prstGeom prst="line">
            <a:avLst/>
          </a:prstGeom>
          <a:ln w="19050">
            <a:solidFill>
              <a:srgbClr val="DD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823960" y="3108960"/>
            <a:ext cx="960120" cy="457200"/>
          </a:xfrm>
          <a:prstGeom prst="line">
            <a:avLst/>
          </a:prstGeom>
          <a:ln w="19050">
            <a:solidFill>
              <a:srgbClr val="DD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915400" y="1874519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7680"/>
                </a:solidFill>
                <a:latin typeface="Calibri"/>
              </a:rPr>
              <a:t>HTTP</a:t>
            </a:r>
          </a:p>
          <a:p>
            <a:pPr algn="ctr"/>
            <a:r>
              <a:rPr sz="1000" b="0" i="0">
                <a:solidFill>
                  <a:srgbClr val="6E7680"/>
                </a:solidFill>
                <a:latin typeface="Calibri"/>
              </a:rP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24612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7680"/>
                </a:solidFill>
                <a:latin typeface="Calibri"/>
              </a:rPr>
              <a:t>activate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46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D333B"/>
                </a:solidFill>
                <a:latin typeface="Calibri"/>
              </a:rPr>
              <a:t>The hardware never makes a clinical decision — signal validation, model inference, calibration and alerting all run in the backend, not on the devices themselves.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6692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E7680"/>
                </a:solidFill>
                <a:latin typeface="Calibri"/>
              </a:rPr>
              <a:t>Note: the BP unit and the smart medicine box never talk to each other directly — both are independent, reporting only to the backend.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SOFTWARE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Four Layers, Two Architectural Styles</a:t>
            </a:r>
          </a:p>
        </p:txBody>
      </p:sp>
      <p:pic>
        <p:nvPicPr>
          <p:cNvPr id="6" name="Picture 5" descr="fig_28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27" y="1188720"/>
            <a:ext cx="1778425" cy="5120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0" y="1188720"/>
            <a:ext cx="7452360" cy="237744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188720"/>
            <a:ext cx="64008" cy="237744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0832" y="1335024"/>
            <a:ext cx="6995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2D333B"/>
                </a:solidFill>
                <a:latin typeface="Calibri"/>
              </a:rPr>
              <a:t>Service-layer style (most of the system)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1755648"/>
            <a:ext cx="6995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Auth, medications, vitals, notifications, contacts, calls, IoT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Routers → flat services → SQLAlchemy models, wired via Depends()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Simple, direct, easy to trace end to 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703320"/>
            <a:ext cx="7452360" cy="260604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3703320"/>
            <a:ext cx="64008" cy="2606040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3849624"/>
            <a:ext cx="6995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2D333B"/>
                </a:solidFill>
                <a:latin typeface="Calibri"/>
              </a:rPr>
              <a:t>Clean / hexagonal architecture (symptom checker v2 only)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4270248"/>
            <a:ext cx="6995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D4820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Domain rule engine, application use-cases, infrastructure adapters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D4820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Use-cases depend on interfaces, not concrete implementations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D4820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Two chat-storage backends (Redis / in-memory) already prove the boundary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21 Tables, One PostgreSQL System of Record</a:t>
            </a:r>
          </a:p>
        </p:txBody>
      </p:sp>
      <p:pic>
        <p:nvPicPr>
          <p:cNvPr id="6" name="Picture 5" descr="Health_Mate_ER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" y="1188720"/>
            <a:ext cx="6827519" cy="5120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188720"/>
            <a:ext cx="30175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95360" y="1188720"/>
            <a:ext cx="64008" cy="118872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1298448"/>
            <a:ext cx="2651760" cy="689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38F"/>
                </a:solidFill>
                <a:latin typeface="Calibr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1925726"/>
            <a:ext cx="265176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SQLAlchemy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514600"/>
            <a:ext cx="30175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95360" y="2514600"/>
            <a:ext cx="64008" cy="1188720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96528" y="2624328"/>
            <a:ext cx="2651760" cy="689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820F"/>
                </a:solidFill>
                <a:latin typeface="Calibri"/>
              </a:rPr>
              <a:t>16+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3251606"/>
            <a:ext cx="265176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Alembic migrations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3840480"/>
            <a:ext cx="30175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3840480"/>
            <a:ext cx="64008" cy="1188720"/>
          </a:xfrm>
          <a:prstGeom prst="rect">
            <a:avLst/>
          </a:prstGeom>
          <a:solidFill>
            <a:srgbClr val="5E3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96528" y="3950208"/>
            <a:ext cx="2651760" cy="689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E35B1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4577486"/>
            <a:ext cx="265176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many-to-many table</a:t>
            </a:r>
          </a:p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(patient ↔ caregiver)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212080"/>
            <a:ext cx="3063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46505A"/>
                </a:solidFill>
                <a:latin typeface="Calibri"/>
              </a:rPr>
              <a:t>A partial unique index enforces one active primary caregiver per patient — a real database-level rule, not just app logic.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 It's Actually Built With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55680" cy="40233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8778240"/>
              </a:tblGrid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Technologies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Mobile App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Flutter, Riverpod, Dio + Retrofit, Hive, flutter_secure_storage, easy_localization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Backend API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FastAPI (Python), Socket.IO (WebRTC signaling), APScheduler (reminders/alarms)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Data &amp; Infra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PostgreSQL 15 + asyncpg, Redis, Cloudinary, Firebase Cloud Messaging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AI / ML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TensorFlow / Keras (BP model), LightGBM (symptom triage), scikit-learn baselines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IoT Firmware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ESP8266-12E (BP unit), ESP32 (smart medicine box), Arduino C++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Engineering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Docker Compose, Alembic migrations, 15 automated backend test suites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440680"/>
            <a:ext cx="2651760" cy="868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440680"/>
            <a:ext cx="54864" cy="86868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5495544"/>
            <a:ext cx="237744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38F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5892393"/>
            <a:ext cx="2377440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E7680"/>
                </a:solidFill>
                <a:latin typeface="Calibri"/>
              </a:rPr>
              <a:t>containerized via Docker Compose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5440680"/>
            <a:ext cx="2651760" cy="868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5440680"/>
            <a:ext cx="54864" cy="868680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5495544"/>
            <a:ext cx="237744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820F"/>
                </a:solidFill>
                <a:latin typeface="Calibri"/>
              </a:rPr>
              <a:t>Async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5892393"/>
            <a:ext cx="2377440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E7680"/>
                </a:solidFill>
                <a:latin typeface="Calibri"/>
              </a:rPr>
              <a:t>I/O throughout the FastAPI 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5440680"/>
            <a:ext cx="2651760" cy="868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5440680"/>
            <a:ext cx="54864" cy="868680"/>
          </a:xfrm>
          <a:prstGeom prst="rect">
            <a:avLst/>
          </a:prstGeom>
          <a:solidFill>
            <a:srgbClr val="5E3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5495544"/>
            <a:ext cx="237744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E35B1"/>
                </a:solidFill>
                <a:latin typeface="Calibri"/>
              </a:rPr>
              <a:t>Type-safe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5892393"/>
            <a:ext cx="2377440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E7680"/>
                </a:solidFill>
                <a:latin typeface="Calibri"/>
              </a:rPr>
              <a:t>Dart mobile codebase end to 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5440680"/>
            <a:ext cx="2651760" cy="868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544068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5495544"/>
            <a:ext cx="237744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Open-source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5892393"/>
            <a:ext cx="2377440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E7680"/>
                </a:solidFill>
                <a:latin typeface="Calibri"/>
              </a:rPr>
              <a:t>entire stack, no proprietary lock-in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THE SHARED MOBILE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Same Data, Two Tailored Experiences</a:t>
            </a:r>
          </a:p>
        </p:txBody>
      </p:sp>
      <p:pic>
        <p:nvPicPr>
          <p:cNvPr id="6" name="Picture 5" descr="screen_home_pat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725" y="1188720"/>
            <a:ext cx="2447029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291072"/>
            <a:ext cx="387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7680"/>
                </a:solidFill>
                <a:latin typeface="Calibri"/>
              </a:rPr>
              <a:t>Patient Home</a:t>
            </a:r>
          </a:p>
        </p:txBody>
      </p:sp>
      <p:pic>
        <p:nvPicPr>
          <p:cNvPr id="8" name="Picture 7" descr="screen_home_caregi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891" y="1188720"/>
            <a:ext cx="2425736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45279" y="6291072"/>
            <a:ext cx="387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7680"/>
                </a:solidFill>
                <a:latin typeface="Calibri"/>
              </a:rPr>
              <a:t>Caregiver Home</a:t>
            </a:r>
          </a:p>
        </p:txBody>
      </p:sp>
      <p:pic>
        <p:nvPicPr>
          <p:cNvPr id="10" name="Picture 9" descr="screen_linking_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444" y="1188720"/>
            <a:ext cx="2437671" cy="5029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24799" y="6291072"/>
            <a:ext cx="387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7680"/>
                </a:solidFill>
                <a:latin typeface="Calibri"/>
              </a:rPr>
              <a:t>QR Patient ↔ Caregiver Linking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CUSTOM IOT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Blood-Pressure Sensing Unit</a:t>
            </a:r>
          </a:p>
        </p:txBody>
      </p:sp>
      <p:pic>
        <p:nvPicPr>
          <p:cNvPr id="6" name="Picture 5" descr="bp_hardware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39"/>
            <a:ext cx="6035040" cy="4526280"/>
          </a:xfrm>
          <a:prstGeom prst="rect">
            <a:avLst/>
          </a:prstGeom>
        </p:spPr>
      </p:pic>
      <p:pic>
        <p:nvPicPr>
          <p:cNvPr id="7" name="Picture 6" descr="ecg_lead_placem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36065"/>
            <a:ext cx="4937760" cy="45345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CUSTOM IOT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Firmware Built for Real Conditions, Not 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394960" cy="402336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" cy="402336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3502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2D333B"/>
                </a:solidFill>
                <a:latin typeface="Calibri"/>
              </a:rPr>
              <a:t>What the firmware guarantees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55648"/>
            <a:ext cx="49377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ESP8266-12E + MAX30102 (PPG) + AD8232 (ECG) — no on-device model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Samples both channels at a precise 100 Hz, unaveraged, matching the trained model exactly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Gates on finger + lead contact before accepting any sample — discards a bad window rather than sending it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Retries uploads with exponential backoff; a 10-second heartbeat keeps device status current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88720"/>
            <a:ext cx="5394960" cy="402336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64008" cy="4023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33502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2D333B"/>
                </a:solidFill>
                <a:latin typeface="Calibri"/>
              </a:rPr>
              <a:t>Known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755648"/>
            <a:ext cx="49377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C62828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The device authentication token shipped in this firmware is a hardcoded placeholder rather than a per-device provisioned secret — production deployment requires per-device credential issuance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C62828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The hardware never runs the model, calibration, or risk logic — every clinical decision happens in the backend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C62828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No accuracy numbers yet exist from real MAX30102/AD8232 recordings — every reported metric comes from the held-out test 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349240"/>
            <a:ext cx="2651760" cy="868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349240"/>
            <a:ext cx="54864" cy="86868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404103"/>
            <a:ext cx="237744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38F"/>
                </a:solidFill>
                <a:latin typeface="Calibri"/>
              </a:rPr>
              <a:t>100 Hz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800953"/>
            <a:ext cx="2377440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E7680"/>
                </a:solidFill>
                <a:latin typeface="Calibri"/>
              </a:rPr>
              <a:t>sampling rate, unaveraged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5349240"/>
            <a:ext cx="2651760" cy="868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5349240"/>
            <a:ext cx="54864" cy="868680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5404103"/>
            <a:ext cx="237744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820F"/>
                </a:solidFill>
                <a:latin typeface="Calibri"/>
              </a:rPr>
              <a:t>800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5800953"/>
            <a:ext cx="2377440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E7680"/>
                </a:solidFill>
                <a:latin typeface="Calibri"/>
              </a:rPr>
              <a:t>samples per channel per window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5349240"/>
            <a:ext cx="2651760" cy="868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5349240"/>
            <a:ext cx="54864" cy="868680"/>
          </a:xfrm>
          <a:prstGeom prst="rect">
            <a:avLst/>
          </a:prstGeom>
          <a:solidFill>
            <a:srgbClr val="5E3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5404103"/>
            <a:ext cx="237744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E35B1"/>
                </a:solidFill>
                <a:latin typeface="Calibri"/>
              </a:rPr>
              <a:t>8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5800953"/>
            <a:ext cx="2377440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E7680"/>
                </a:solidFill>
                <a:latin typeface="Calibri"/>
              </a:rPr>
              <a:t>capture window per reading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5349240"/>
            <a:ext cx="2651760" cy="868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06840" y="5349240"/>
            <a:ext cx="54864" cy="8686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1432" y="5404103"/>
            <a:ext cx="237744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Calibri"/>
              </a:rPr>
              <a:t>≤500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1432" y="5800953"/>
            <a:ext cx="2377440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E7680"/>
                </a:solidFill>
                <a:latin typeface="Calibri"/>
              </a:rPr>
              <a:t>to discard a bad window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CUSTOM IOT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Smart Medicine Box: Indicator, Not Dispenser</a:t>
            </a:r>
          </a:p>
        </p:txBody>
      </p:sp>
      <p:pic>
        <p:nvPicPr>
          <p:cNvPr id="6" name="Picture 5" descr="smart_box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97330"/>
            <a:ext cx="5943600" cy="4457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1188720"/>
            <a:ext cx="4983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C62828"/>
                </a:solidFill>
                <a:latin typeface="Calibri"/>
              </a:rPr>
              <a:t>No motor, servo, or locking mechanism exists in the firmware — the box indicates the correct drawer via LED, and the patient opens it by hand.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423160"/>
            <a:ext cx="49834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0838F"/>
                </a:solidFill>
                <a:latin typeface="Calibri"/>
              </a:rPr>
              <a:t>●  </a:t>
            </a:r>
            <a:r>
              <a:rPr sz="1500" b="0">
                <a:solidFill>
                  <a:srgbClr val="2D333B"/>
                </a:solidFill>
                <a:latin typeface="Calibri"/>
              </a:rPr>
              <a:t>ESP32 + 74HC595 shift register driving up to 6 drawer LEDs, plus a buzzer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0838F"/>
                </a:solidFill>
                <a:latin typeface="Calibri"/>
              </a:rPr>
              <a:t>●  </a:t>
            </a:r>
            <a:r>
              <a:rPr sz="1500" b="0">
                <a:solidFill>
                  <a:srgbClr val="2D333B"/>
                </a:solidFill>
                <a:latin typeface="Calibri"/>
              </a:rPr>
              <a:t>The LED lights the correct drawer; the patient still opens it by hand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0838F"/>
                </a:solidFill>
                <a:latin typeface="Calibri"/>
              </a:rPr>
              <a:t>●  </a:t>
            </a:r>
            <a:r>
              <a:rPr sz="1500" b="0">
                <a:solidFill>
                  <a:srgbClr val="2D333B"/>
                </a:solidFill>
                <a:latin typeface="Calibri"/>
              </a:rPr>
              <a:t>Fail-soft: an unreachable box never blocks the phone notification for the same reminder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0838F"/>
                </a:solidFill>
                <a:latin typeface="Calibri"/>
              </a:rPr>
              <a:t>●  </a:t>
            </a:r>
            <a:r>
              <a:rPr sz="1500" b="0">
                <a:solidFill>
                  <a:srgbClr val="2D333B"/>
                </a:solidFill>
                <a:latin typeface="Calibri"/>
              </a:rPr>
              <a:t>Adherence is logged from the patient tapping “taken” in the app — not from any drawer-open sensor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0838F"/>
                </a:solidFill>
                <a:latin typeface="Calibri"/>
              </a:rPr>
              <a:t>●  </a:t>
            </a:r>
            <a:r>
              <a:rPr sz="1500" b="0">
                <a:solidFill>
                  <a:srgbClr val="2D333B"/>
                </a:solidFill>
                <a:latin typeface="Calibri"/>
              </a:rPr>
              <a:t>Still genuinely useful: it turns “time for a dose” into one unambiguous physical pointer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5623560"/>
            <a:ext cx="1569720" cy="6858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5623560"/>
            <a:ext cx="54864" cy="6858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712" y="5678424"/>
            <a:ext cx="1295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5980176"/>
            <a:ext cx="1295400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E7680"/>
                </a:solidFill>
                <a:latin typeface="Calibri"/>
              </a:rPr>
              <a:t>motors or locks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81999" y="5623560"/>
            <a:ext cx="1569720" cy="6858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1999" y="5623560"/>
            <a:ext cx="54864" cy="6858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6592" y="5678424"/>
            <a:ext cx="1295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38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6592" y="5980176"/>
            <a:ext cx="1295400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E7680"/>
                </a:solidFill>
                <a:latin typeface="Calibri"/>
              </a:rPr>
              <a:t>max drawers supported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88880" y="5623560"/>
            <a:ext cx="1569720" cy="6858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88880" y="562356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53472" y="5678424"/>
            <a:ext cx="1295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Fail-soft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3472" y="5980176"/>
            <a:ext cx="1295400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E7680"/>
                </a:solidFill>
                <a:latin typeface="Calibri"/>
              </a:rPr>
              <a:t>always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6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6C8D2"/>
                </a:solidFill>
                <a:latin typeface="Calibri"/>
              </a:rPr>
              <a:t>THE AI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3000"/>
              </a:lnSpc>
            </a:pPr>
            <a:r>
              <a:rPr sz="3300" b="1" i="0">
                <a:solidFill>
                  <a:srgbClr val="FFFFFF"/>
                </a:solidFill>
                <a:latin typeface="Calibri"/>
              </a:rPr>
              <a:t>Two Purpose-Built Models,</a:t>
            </a:r>
          </a:p>
          <a:p>
            <a:pPr algn="l">
              <a:lnSpc>
                <a:spcPct val="103000"/>
              </a:lnSpc>
            </a:pPr>
            <a:r>
              <a:rPr sz="3300" b="1" i="0">
                <a:solidFill>
                  <a:srgbClr val="FFFFFF"/>
                </a:solidFill>
                <a:latin typeface="Calibri"/>
              </a:rPr>
              <a:t>Compared Fairly.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D2E1EB"/>
                </a:solidFill>
                <a:latin typeface="Calibri"/>
              </a:rPr>
              <a:t>Not a single black box — two independent problems, each benchmarked against multiple baseline alternatives.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94760"/>
            <a:ext cx="5257800" cy="2011680"/>
          </a:xfrm>
          <a:prstGeom prst="roundRect">
            <a:avLst>
              <a:gd name="adj" fmla="val 4500"/>
            </a:avLst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794760"/>
            <a:ext cx="5257800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014216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Cuffless Blood-Pressure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07992"/>
            <a:ext cx="4709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3D7E1"/>
                </a:solidFill>
                <a:latin typeface="Calibri"/>
              </a:rPr>
              <a:t>650,000+ signal windows from a MIMIC-derived dataset • 10 models compared: 6 classical + 4 deep learning • Estimates SBP/DBP from 8s of PPG+ECG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794760"/>
            <a:ext cx="5257800" cy="2011680"/>
          </a:xfrm>
          <a:prstGeom prst="roundRect">
            <a:avLst>
              <a:gd name="adj" fmla="val 4500"/>
            </a:avLst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3794760"/>
            <a:ext cx="5257800" cy="41148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014216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Symptom-Triage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507992"/>
            <a:ext cx="4709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3D7E1"/>
                </a:solidFill>
                <a:latin typeface="Calibri"/>
              </a:rPr>
              <a:t>232-dimensional structured feature vector • Severity, duration, age, vitals &amp; risk factors — not bag-of-words • Backed by an escalate-only safety rule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A0CDD7"/>
                </a:solidFill>
                <a:latin typeface="Calibri"/>
              </a:rPr>
              <a:t>The two models are otherwise independent — they connect at exactly one point: a high or critical BP reading can offer an optional symptom follow-up, feeding the same triage engine (shown ahead).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CDD7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A0CDD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BLOOD-PRESSURE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Why Estimating BP Without a Cuff Is Hard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566160" cy="4297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3566160" cy="640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8132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D333B"/>
                </a:solidFill>
                <a:latin typeface="Calibri"/>
              </a:rPr>
              <a:t>The Physiology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0312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46505A"/>
                </a:solidFill>
                <a:latin typeface="Calibri"/>
              </a:rPr>
              <a:t>Pulse transit time — the delay between an ECG R-peak and the matching PPG pulse — shortens as arterial pressure rises. It's the classical basis for cuffless estimation.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566160" cy="4297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566160" cy="64008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48132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D333B"/>
                </a:solidFill>
                <a:latin typeface="Calibri"/>
              </a:rPr>
              <a:t>The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10312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46505A"/>
                </a:solidFill>
                <a:latin typeface="Calibri"/>
              </a:rPr>
              <a:t>An 8-second, 800-sample window of PPG + ECG at 100 Hz has to be turned into two numbers: systolic and diastolic pressure.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80160"/>
            <a:ext cx="3566160" cy="4297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280160"/>
            <a:ext cx="3566160" cy="64008"/>
          </a:xfrm>
          <a:prstGeom prst="rect">
            <a:avLst/>
          </a:prstGeom>
          <a:solidFill>
            <a:srgbClr val="5E3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481328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D333B"/>
                </a:solidFill>
                <a:latin typeface="Calibri"/>
              </a:rPr>
              <a:t>The Catch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10312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46505A"/>
                </a:solidFill>
                <a:latin typeface="Calibri"/>
              </a:rPr>
              <a:t>The PTT-to-pressure relationship is nonlinear and patient-dependent — a well-known hard problem in biomedical signal processing, easy to overfit to one dataset.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BLOOD-PRESSURE MODEL —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 Rigorous, Record-Level Fair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" cy="128016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298448"/>
            <a:ext cx="2240280" cy="742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38F"/>
                </a:solidFill>
                <a:latin typeface="Calibri"/>
              </a:rPr>
              <a:t>653,015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82419"/>
            <a:ext cx="224028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total signal windows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18872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64008" cy="1280160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298448"/>
            <a:ext cx="2240280" cy="742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820F"/>
                </a:solidFill>
                <a:latin typeface="Calibri"/>
              </a:rPr>
              <a:t>1,631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1982419"/>
            <a:ext cx="224028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held-out patient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18872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188720"/>
            <a:ext cx="64008" cy="1280160"/>
          </a:xfrm>
          <a:prstGeom prst="rect">
            <a:avLst/>
          </a:prstGeom>
          <a:solidFill>
            <a:srgbClr val="5E3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298448"/>
            <a:ext cx="2240280" cy="742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E35B1"/>
                </a:solidFill>
                <a:latin typeface="Calibr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1982419"/>
            <a:ext cx="224028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models trained &amp; compared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188720"/>
            <a:ext cx="29718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32520" y="1188720"/>
            <a:ext cx="64008" cy="12801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33688" y="1298448"/>
            <a:ext cx="2606040" cy="742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E7D32"/>
                </a:solidFill>
                <a:latin typeface="Calibri"/>
              </a:rPr>
              <a:t>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3688" y="1982419"/>
            <a:ext cx="260604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hand-crafted waveform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69748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2D333B"/>
                </a:solidFill>
                <a:latin typeface="Calibri"/>
              </a:rPr>
              <a:t>Record-level split (train/val/test) — not window-level — so overlapping windows from the same patient never leak across splits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2D333B"/>
                </a:solidFill>
                <a:latin typeface="Calibri"/>
              </a:rPr>
              <a:t>Bandpass filter → z-score normalize → feature extraction: the exact same code runs in training and in the production backend</a:t>
            </a:r>
          </a:p>
        </p:txBody>
      </p:sp>
      <p:pic>
        <p:nvPicPr>
          <p:cNvPr id="23" name="Picture 22" descr="fig_29_pipeline_stage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343400"/>
            <a:ext cx="11155680" cy="470249"/>
          </a:xfrm>
          <a:prstGeom prst="rect">
            <a:avLst/>
          </a:prstGeom>
        </p:spPr>
      </p:pic>
      <p:pic>
        <p:nvPicPr>
          <p:cNvPr id="24" name="Picture 23" descr="fig_30_pipeline_stage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349240"/>
            <a:ext cx="11155680" cy="49251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BLOOD-PRESSURE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21 Hand-Crafted Signal Features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5760720" cy="37490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548640"/>
                <a:gridCol w="2834640"/>
              </a:tblGrid>
              <a:tr h="624839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</a:tr>
              <a:tr h="624839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Heart rate &amp; rhythm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HR (bpm), RR interval mean / std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Pulse transit time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PPG-peak minus preceding ECG R-peak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  <a:tr h="624839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PPG waveform shape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Rise time, amplitude, mean/std/skew/kurtosis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PPG derivatives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1st (velocity) &amp; 2nd (acceleration) plethysmogram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  <a:tr h="624839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ECG waveform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D333B"/>
                          </a:solidFill>
                          <a:latin typeface="Calibri"/>
                        </a:rPr>
                        <a:t>RR interval, QRS width, mean / std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ig_05_featur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47775"/>
            <a:ext cx="5166360" cy="2230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206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6505A"/>
                </a:solidFill>
                <a:latin typeface="Calibri"/>
              </a:rPr>
              <a:t>Pulse transit time and heart rate carry the strongest linear correlation with SBP/DBP among the 21 features — but no single hand-crafted feature is strong enough alone, which is exactly why the raw waveform matters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BLOOD-PRESSURE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Handling Imbalance Without Throwing Data Away</a:t>
            </a:r>
          </a:p>
        </p:txBody>
      </p:sp>
      <p:pic>
        <p:nvPicPr>
          <p:cNvPr id="6" name="Picture 5" descr="fig_03_bp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51803"/>
            <a:ext cx="5440680" cy="2674232"/>
          </a:xfrm>
          <a:prstGeom prst="rect">
            <a:avLst/>
          </a:prstGeom>
        </p:spPr>
      </p:pic>
      <p:pic>
        <p:nvPicPr>
          <p:cNvPr id="7" name="Picture 6" descr="fig_04_class_we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806468"/>
            <a:ext cx="5532120" cy="19649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>
                <a:solidFill>
                  <a:srgbClr val="00838F"/>
                </a:solidFill>
                <a:latin typeface="Calibri"/>
              </a:rPr>
              <a:t>●  </a:t>
            </a:r>
            <a:r>
              <a:rPr sz="1400" b="0">
                <a:solidFill>
                  <a:srgbClr val="2D333B"/>
                </a:solidFill>
                <a:latin typeface="Calibri"/>
              </a:rPr>
              <a:t>Hypertension &amp; Hypotension windows dominate the dataset; Normal &amp; Elevated are comparatively rare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>
                <a:solidFill>
                  <a:srgbClr val="00838F"/>
                </a:solidFill>
                <a:latin typeface="Calibri"/>
              </a:rPr>
              <a:t>●  </a:t>
            </a:r>
            <a:r>
              <a:rPr sz="1400" b="0">
                <a:solidFill>
                  <a:srgbClr val="2D333B"/>
                </a:solidFill>
                <a:latin typeface="Calibri"/>
              </a:rPr>
              <a:t>A prior attempt downsampled to force balance — it discarded most of the data and made results worse (SBP MAE 11.47 vs. 9.13)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>
                <a:solidFill>
                  <a:srgbClr val="00838F"/>
                </a:solidFill>
                <a:latin typeface="Calibri"/>
              </a:rPr>
              <a:t>●  </a:t>
            </a:r>
            <a:r>
              <a:rPr sz="1400" b="0">
                <a:solidFill>
                  <a:srgbClr val="2D333B"/>
                </a:solidFill>
                <a:latin typeface="Calibri"/>
              </a:rPr>
              <a:t>Current approach: inverse-frequency sample weights (capped at 5×) — every real window is kept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>
                <a:solidFill>
                  <a:srgbClr val="00838F"/>
                </a:solidFill>
                <a:latin typeface="Calibri"/>
              </a:rPr>
              <a:t>●  </a:t>
            </a:r>
            <a:r>
              <a:rPr sz="1400" b="0">
                <a:solidFill>
                  <a:srgbClr val="2D333B"/>
                </a:solidFill>
                <a:latin typeface="Calibri"/>
              </a:rPr>
              <a:t>A modest 15% synthetic augmentation (noise, baseline wander, amplitude scaling) tops up the real data, not replaces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BLOOD-PRESSURE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Ten Models, One Clear Winner</a:t>
            </a:r>
          </a:p>
        </p:txBody>
      </p:sp>
      <p:pic>
        <p:nvPicPr>
          <p:cNvPr id="6" name="Picture 5" descr="fig_31_model_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06" y="1188720"/>
            <a:ext cx="2162227" cy="51206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77639" y="1188720"/>
          <a:ext cx="7680960" cy="37490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1554480"/>
                <a:gridCol w="1554480"/>
                <a:gridCol w="1463040"/>
              </a:tblGrid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SBP MAE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DBP MAE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DBP BHS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1D-CNN  (best)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838F"/>
                          </a:solidFill>
                          <a:latin typeface="Calibri"/>
                        </a:rPr>
                        <a:t>9.08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838F"/>
                          </a:solidFill>
                          <a:latin typeface="Calibri"/>
                        </a:rPr>
                        <a:t>4.91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838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TCN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9.79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5.31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TCN+BiLSTM+Attn  (ours)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10.17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5.63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BiLSTM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14.34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7.28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XGBoost  (best classical)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14.71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7.45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Ridge  (weakest)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18.03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8.59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977639" y="507492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2D333B"/>
                </a:solidFill>
                <a:latin typeface="Calibri"/>
              </a:rPr>
              <a:t>The team's own purpose-built architecture (TCN+BiLSTM+Attention) did not win — a plain 1D-CNN did. More complexity did not translate into better accuracy on this dataset.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BLOOD-PRESSURE MODEL —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Best ≠ Clinically Acceptable — Both Are True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64008" cy="14630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3200400" cy="848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62828"/>
                </a:solidFill>
                <a:latin typeface="Calibri"/>
              </a:rPr>
              <a:t>9.08 mmHg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141524"/>
            <a:ext cx="320040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SBP MAE — Grade D, fails AAMI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3444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34440"/>
            <a:ext cx="64008" cy="1463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344168"/>
            <a:ext cx="3200400" cy="848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E7D32"/>
                </a:solidFill>
                <a:latin typeface="Calibri"/>
              </a:rPr>
              <a:t>4.91 mmHg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141524"/>
            <a:ext cx="320040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DBP MAE — Grade B, PASSES AAMI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23444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234440"/>
            <a:ext cx="64008" cy="146304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344168"/>
            <a:ext cx="3291840" cy="848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38F"/>
                </a:solidFill>
                <a:latin typeface="Calibri"/>
              </a:rPr>
              <a:t>80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141524"/>
            <a:ext cx="32918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model inference time (of an 8s window)</a:t>
            </a:r>
          </a:p>
        </p:txBody>
      </p:sp>
      <p:pic>
        <p:nvPicPr>
          <p:cNvPr id="18" name="Picture 17" descr="fig_12_mae_comparison_sb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38259"/>
            <a:ext cx="5440680" cy="3141801"/>
          </a:xfrm>
          <a:prstGeom prst="rect">
            <a:avLst/>
          </a:prstGeom>
        </p:spPr>
      </p:pic>
      <p:pic>
        <p:nvPicPr>
          <p:cNvPr id="19" name="Picture 18" descr="fig_13_mae_comparison_db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111857"/>
            <a:ext cx="5532120" cy="31946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BLOOD-PRESSURE MODEL — CLINICAL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Predicted vs. Actual, Over Time</a:t>
            </a:r>
          </a:p>
        </p:txBody>
      </p:sp>
      <p:pic>
        <p:nvPicPr>
          <p:cNvPr id="6" name="Picture 5" descr="fig_19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0096"/>
            <a:ext cx="11155680" cy="389776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48640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486400"/>
            <a:ext cx="64008" cy="100584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5596128"/>
            <a:ext cx="5074920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0838F"/>
                </a:solidFill>
                <a:latin typeface="Calibri"/>
              </a:rPr>
              <a:t>R² = 0.671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6110020"/>
            <a:ext cx="507492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SBP — predicted tracks the true value over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486400"/>
            <a:ext cx="55321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5486400"/>
            <a:ext cx="64008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5596128"/>
            <a:ext cx="5166359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2E7D32"/>
                </a:solidFill>
                <a:latin typeface="Calibri"/>
              </a:rPr>
              <a:t>R² = 0.546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6110020"/>
            <a:ext cx="5166359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DBP — predicted tracks the true value over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BLOOD-PRESSURE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What's Still Open</a:t>
            </a:r>
          </a:p>
        </p:txBody>
      </p:sp>
      <p:pic>
        <p:nvPicPr>
          <p:cNvPr id="6" name="Picture 5" descr="fig_24_per_class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8361"/>
            <a:ext cx="6035040" cy="26925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1188720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>
                <a:solidFill>
                  <a:srgbClr val="00838F"/>
                </a:solidFill>
                <a:latin typeface="Calibri"/>
              </a:rPr>
              <a:t>●  </a:t>
            </a:r>
            <a:r>
              <a:rPr sz="1400" b="0">
                <a:solidFill>
                  <a:srgbClr val="2D333B"/>
                </a:solidFill>
                <a:latin typeface="Calibri"/>
              </a:rPr>
              <a:t>Every model in the study fails AAMI for SBP — treated as an indicative trend, not a diagnostic-grade number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>
                <a:solidFill>
                  <a:srgbClr val="00838F"/>
                </a:solidFill>
                <a:latin typeface="Calibri"/>
              </a:rPr>
              <a:t>●  </a:t>
            </a:r>
            <a:r>
              <a:rPr sz="1400" b="0">
                <a:solidFill>
                  <a:srgbClr val="2D333B"/>
                </a:solidFill>
                <a:latin typeface="Calibri"/>
              </a:rPr>
              <a:t>Trained and evaluated on ICU arterial-line data (MIMIC) — not yet on an ambulatory, home-use population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>
                <a:solidFill>
                  <a:srgbClr val="00838F"/>
                </a:solidFill>
                <a:latin typeface="Calibri"/>
              </a:rPr>
              <a:t>●  </a:t>
            </a:r>
            <a:r>
              <a:rPr sz="1400" b="0">
                <a:solidFill>
                  <a:srgbClr val="2D333B"/>
                </a:solidFill>
                <a:latin typeface="Calibri"/>
              </a:rPr>
              <a:t>No accuracy numbers yet from real MAX30102/AD8232 hardware recordings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0916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2D333B"/>
                </a:solidFill>
                <a:latin typeface="Calibri"/>
              </a:rPr>
              <a:t>This is a validation gap, not an integration gap: the firmware, backend inference, and calibration pipeline are all wired together end to end — what's missing is a measured accuracy number from real sensor hardware on a live subject.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PER-PATIENT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Adapting the Model to One Specific Person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035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00838F"/>
                </a:solidFill>
                <a:latin typeface="Calibri"/>
              </a:rPr>
              <a:t>●  </a:t>
            </a:r>
            <a:r>
              <a:rPr sz="1500" b="0">
                <a:solidFill>
                  <a:srgbClr val="2D333B"/>
                </a:solidFill>
                <a:latin typeface="Calibri"/>
              </a:rPr>
              <a:t>Fewer than 8 cuff-vs-model samples → robust median offset only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00838F"/>
                </a:solidFill>
                <a:latin typeface="Calibri"/>
              </a:rPr>
              <a:t>●  </a:t>
            </a:r>
            <a:r>
              <a:rPr sz="1500" b="0">
                <a:solidFill>
                  <a:srgbClr val="2D333B"/>
                </a:solidFill>
                <a:latin typeface="Calibri"/>
              </a:rPr>
              <a:t>8 or more samples → upgrades to a full least-squares linear fit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00838F"/>
                </a:solidFill>
                <a:latin typeface="Calibri"/>
              </a:rPr>
              <a:t>●  </a:t>
            </a:r>
            <a:r>
              <a:rPr sz="1500" b="0">
                <a:solidFill>
                  <a:srgbClr val="2D333B"/>
                </a:solidFill>
                <a:latin typeface="Calibri"/>
              </a:rPr>
              <a:t>Scale clamped to [0.70, 1.30], offset to [−25, +25] mmHg — a bad fit can't run away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00838F"/>
                </a:solidFill>
                <a:latin typeface="Calibri"/>
              </a:rPr>
              <a:t>●  </a:t>
            </a:r>
            <a:r>
              <a:rPr sz="1500" b="0">
                <a:solidFill>
                  <a:srgbClr val="2D333B"/>
                </a:solidFill>
                <a:latin typeface="Calibri"/>
              </a:rPr>
              <a:t>A separate scheduled job detects drift (&gt;8 mmHg SBP / &gt;5 mmHg DBP shift) or staleness (&gt;90 days), prompting recalibration</a:t>
            </a:r>
          </a:p>
        </p:txBody>
      </p:sp>
      <p:pic>
        <p:nvPicPr>
          <p:cNvPr id="7" name="Picture 6" descr="fig_25_calibration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082" y="4709160"/>
            <a:ext cx="4292714" cy="1828800"/>
          </a:xfrm>
          <a:prstGeom prst="rect">
            <a:avLst/>
          </a:prstGeom>
        </p:spPr>
      </p:pic>
      <p:pic>
        <p:nvPicPr>
          <p:cNvPr id="8" name="Picture 7" descr="fig_38_calibration_drift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580" y="1188720"/>
            <a:ext cx="2444279" cy="5394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SYMPTOM-TRIAGE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Two Generations, Both Still Live Today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5568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4023360"/>
                <a:gridCol w="493776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v1 — Legacy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v2 — Structured (production)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Free text or a flat symptom list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Severity, duration, age, vitals, conditions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Representation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TF-IDF vectorizer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232-dimensional engineered feature vector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Best of 5 classical candidates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LightGBM, 40 disease classes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Safety logic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None beyond the model's own output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D333B"/>
                          </a:solidFill>
                          <a:latin typeface="Calibri"/>
                        </a:rPr>
                        <a:t>Dedicated rule engine, escalate-only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2519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2D333B"/>
                </a:solidFill>
                <a:latin typeface="Calibri"/>
              </a:rPr>
              <a:t>A free-text / TF-IDF model has no slot to weigh “a mild headache for 2 days” differently from “a severe headache for 2 weeks.” v2 exists precisely to fix that — a genuinely different representation, not a tuning pass on v1. Both remain reachable in the app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5394960"/>
            <a:ext cx="2834640" cy="96012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5394960"/>
            <a:ext cx="54864" cy="960120"/>
          </a:xfrm>
          <a:prstGeom prst="rect">
            <a:avLst/>
          </a:prstGeom>
          <a:solidFill>
            <a:srgbClr val="6E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44982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7680"/>
                </a:solidFill>
                <a:latin typeface="Calibri"/>
              </a:rPr>
              <a:t>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77900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6505A"/>
                </a:solidFill>
                <a:latin typeface="Calibri"/>
              </a:rPr>
              <a:t>Free text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6505A"/>
                </a:solidFill>
                <a:latin typeface="Calibri"/>
              </a:rPr>
              <a:t>TF-IDF vectorizer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5669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E768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5394960"/>
            <a:ext cx="2834640" cy="96012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5394960"/>
            <a:ext cx="54864" cy="96012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544982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38F"/>
                </a:solidFill>
                <a:latin typeface="Calibri"/>
              </a:rPr>
              <a:t>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577900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6505A"/>
                </a:solidFill>
                <a:latin typeface="Calibri"/>
              </a:rPr>
              <a:t>Structured wizard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6505A"/>
                </a:solidFill>
                <a:latin typeface="Calibri"/>
              </a:rPr>
              <a:t>232-dim feature 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669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E7680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59" y="5394960"/>
            <a:ext cx="2834640" cy="96012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59" y="5394960"/>
            <a:ext cx="54864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39" y="544982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39" y="577900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6505A"/>
                </a:solidFill>
                <a:latin typeface="Calibri"/>
              </a:rPr>
              <a:t>Safety-first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6505A"/>
                </a:solidFill>
                <a:latin typeface="Calibri"/>
              </a:rPr>
              <a:t>rule engine (escalate-only)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SYMPTOM-TRIAGE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232 Dimensions Built for Nuance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6400800" cy="39319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640080"/>
                <a:gridCol w="3566160"/>
              </a:tblGrid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Symptom presence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Multi-hot: 1 if the symptom was selected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Symptom severity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0 if absent, else reported severity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Duration bucket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&lt;1, 1–3, 4–7, &gt;7 days (one-hot)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Age group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Child / adult / elderly (one-hot)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Risk factors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Hypertension, diabetes, asthma, hypothyroidism, CKD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Vitals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Normalized SBP/DBP/HR + a vitals-present flag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178040" y="1188720"/>
            <a:ext cx="4480560" cy="393192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78040" y="1188720"/>
            <a:ext cx="64008" cy="3931920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1" y="133502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2D333B"/>
                </a:solidFill>
                <a:latin typeface="Calibri"/>
              </a:rPr>
              <a:t>Synthetic, on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4071" y="1755648"/>
            <a:ext cx="40233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 b="1">
                <a:solidFill>
                  <a:srgbClr val="D4820F"/>
                </a:solidFill>
                <a:latin typeface="Calibri"/>
              </a:rPr>
              <a:t>●  </a:t>
            </a:r>
            <a:r>
              <a:rPr sz="1400" b="0">
                <a:solidFill>
                  <a:srgbClr val="46505A"/>
                </a:solidFill>
                <a:latin typeface="Calibri"/>
              </a:rPr>
              <a:t>9,840 train / 2,460 test cases generated from a symptom-taxonomy profile per disease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 b="1">
                <a:solidFill>
                  <a:srgbClr val="D4820F"/>
                </a:solidFill>
                <a:latin typeface="Calibri"/>
              </a:rPr>
              <a:t>●  </a:t>
            </a:r>
            <a:r>
              <a:rPr sz="1400" b="0">
                <a:solidFill>
                  <a:srgbClr val="46505A"/>
                </a:solidFill>
                <a:latin typeface="Calibri"/>
              </a:rPr>
              <a:t>Every case's urgency label comes from the real rule engine — the dataset can never disagree with production logic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 b="1">
                <a:solidFill>
                  <a:srgbClr val="D4820F"/>
                </a:solidFill>
                <a:latin typeface="Calibri"/>
              </a:rPr>
              <a:t>●  </a:t>
            </a:r>
            <a:r>
              <a:rPr sz="1400" b="0">
                <a:solidFill>
                  <a:srgbClr val="46505A"/>
                </a:solidFill>
                <a:latin typeface="Calibri"/>
              </a:rPr>
              <a:t>Confusable pairs (Cold/Flu/COVID-19, Hypertension/Migraine/Stroke) were specifically targeted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49240"/>
            <a:ext cx="31089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349240"/>
            <a:ext cx="64008" cy="100584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5458968"/>
            <a:ext cx="2743200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00838F"/>
                </a:solidFill>
                <a:latin typeface="Calibri"/>
              </a:rPr>
              <a:t>9,840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972860"/>
            <a:ext cx="274320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E7680"/>
                </a:solidFill>
                <a:latin typeface="Calibri"/>
              </a:rPr>
              <a:t>training cases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5349240"/>
            <a:ext cx="31089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94760" y="5349240"/>
            <a:ext cx="64008" cy="1005840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95928" y="5458968"/>
            <a:ext cx="2743200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D4820F"/>
                </a:solidFill>
                <a:latin typeface="Calibri"/>
              </a:rPr>
              <a:t>2,460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95928" y="5972860"/>
            <a:ext cx="274320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E7680"/>
                </a:solidFill>
                <a:latin typeface="Calibri"/>
              </a:rPr>
              <a:t>held-out test cases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5349240"/>
            <a:ext cx="44805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78040" y="5349240"/>
            <a:ext cx="64008" cy="1005840"/>
          </a:xfrm>
          <a:prstGeom prst="rect">
            <a:avLst/>
          </a:prstGeom>
          <a:solidFill>
            <a:srgbClr val="5E3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9208" y="5458968"/>
            <a:ext cx="4114800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5E35B1"/>
                </a:solidFill>
                <a:latin typeface="Calibri"/>
              </a:rPr>
              <a:t>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9208" y="5972860"/>
            <a:ext cx="411480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E7680"/>
                </a:solidFill>
                <a:latin typeface="Calibri"/>
              </a:rPr>
              <a:t>disease classes covered end to 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SYMPTOM-TRIAGE MODEL —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Strong Overall, With Room to Improve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64008" cy="13716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233172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38F"/>
                </a:solidFill>
                <a:latin typeface="Calibri"/>
              </a:rPr>
              <a:t>85.8%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084832"/>
            <a:ext cx="2331720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top-1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344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234440"/>
            <a:ext cx="64008" cy="1371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344168"/>
            <a:ext cx="233172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E7D32"/>
                </a:solidFill>
                <a:latin typeface="Calibri"/>
              </a:rPr>
              <a:t>95.5%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084832"/>
            <a:ext cx="2331720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top-3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64008" cy="1371600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44168"/>
            <a:ext cx="233172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820F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084832"/>
            <a:ext cx="2331720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cross-confusion in targeted disease pairs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2344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234440"/>
            <a:ext cx="64008" cy="1371600"/>
          </a:xfrm>
          <a:prstGeom prst="rect">
            <a:avLst/>
          </a:prstGeom>
          <a:solidFill>
            <a:srgbClr val="5E3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344168"/>
            <a:ext cx="233172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E35B1"/>
                </a:solidFill>
                <a:latin typeface="Calibri"/>
              </a:rPr>
              <a:t>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084832"/>
            <a:ext cx="2331720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disease classes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2926080"/>
          <a:ext cx="576072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15544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Weakest classes (top-1 accuracy)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Myocarditis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0.350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Hypertrophic cardiomyopathy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0.400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Coronary artery disease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0.517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Congestive heart failure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0.600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Ventricular tachycardia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D333B"/>
                          </a:solidFill>
                          <a:latin typeface="Calibri"/>
                        </a:rPr>
                        <a:t>0.650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583680" y="3200400"/>
            <a:ext cx="5074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50" b="1">
                <a:solidFill>
                  <a:srgbClr val="00838F"/>
                </a:solidFill>
                <a:latin typeface="Calibri"/>
              </a:rPr>
              <a:t>●  </a:t>
            </a:r>
            <a:r>
              <a:rPr sz="1550" b="0">
                <a:solidFill>
                  <a:srgbClr val="2D333B"/>
                </a:solidFill>
                <a:latin typeface="Calibri"/>
              </a:rPr>
              <a:t>Almost every weak class is a cardiac subtype — exactly the specialty this project is built around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50" b="1">
                <a:solidFill>
                  <a:srgbClr val="00838F"/>
                </a:solidFill>
                <a:latin typeface="Calibri"/>
              </a:rPr>
              <a:t>●  </a:t>
            </a:r>
            <a:r>
              <a:rPr sz="1550" b="0">
                <a:solidFill>
                  <a:srgbClr val="2D333B"/>
                </a:solidFill>
                <a:latin typeface="Calibri"/>
              </a:rPr>
              <a:t>Logistic Regression (0.870) and Random Forest (0.866) both score higher than the deployed LightGBM (0.858) on the identical dataset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THE SAFETY 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 Rule Engine That Can Only Escalate — Never Suppress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606040" cy="3108960"/>
          </a:xfrm>
          <a:prstGeom prst="roundRect">
            <a:avLst/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2606040" cy="54864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1. Red Flags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C3D7E1"/>
                </a:solidFill>
                <a:latin typeface="Calibri"/>
              </a:rPr>
              <a:t>Certain symptoms (e.g. syncope) trigger regardless of the ML model's own 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104" y="265176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E768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463040"/>
            <a:ext cx="2606040" cy="3108960"/>
          </a:xfrm>
          <a:prstGeom prst="roundRect">
            <a:avLst/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06040" cy="54864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6916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2. Vitals Floor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8600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C3D7E1"/>
                </a:solidFill>
                <a:latin typeface="Calibri"/>
              </a:rPr>
              <a:t>SBP/DBP/SpO2 thresholds set an urgency floor, shared with the BP-alerting 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7024" y="265176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E768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463040"/>
            <a:ext cx="2606040" cy="3108960"/>
          </a:xfrm>
          <a:prstGeom prst="roundRect">
            <a:avLst/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1463040"/>
            <a:ext cx="2606040" cy="54864"/>
          </a:xfrm>
          <a:prstGeom prst="rect">
            <a:avLst/>
          </a:prstGeom>
          <a:solidFill>
            <a:srgbClr val="5E3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6916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3. Urgency 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28600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C3D7E1"/>
                </a:solidFill>
                <a:latin typeface="Calibri"/>
              </a:rPr>
              <a:t>Critical / High / Moderate / Low — combining red flags, vitals, and the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5944" y="265176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E7680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1463040"/>
            <a:ext cx="2606040" cy="3108960"/>
          </a:xfrm>
          <a:prstGeom prst="roundRect">
            <a:avLst/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1463040"/>
            <a:ext cx="2606040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6916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4. Caregiver Alert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28600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C3D7E1"/>
                </a:solidFill>
                <a:latin typeface="Calibri"/>
              </a:rPr>
              <a:t>High or Critical urgency can trigger an immediate caregiver notification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7091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2D333B"/>
                </a:solidFill>
                <a:latin typeface="Calibri"/>
              </a:rPr>
              <a:t>The ML model's prediction is never allowed to override a rule-engine red flag downward — a hard, explicit design rule enforced in code, not a soft guideline.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257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838F"/>
                </a:solidFill>
                <a:latin typeface="Calibri"/>
              </a:rPr>
              <a:t>WHERE THE TWO AI MODELS ACTUALLY CONNECT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577840"/>
            <a:ext cx="3291840" cy="68580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650992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D333B"/>
                </a:solidFill>
                <a:latin typeface="Calibri"/>
              </a:rPr>
              <a:t>High / Critical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D333B"/>
                </a:solidFill>
                <a:latin typeface="Calibri"/>
              </a:rPr>
              <a:t>BP reading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7368" y="57424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E7680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5577840"/>
            <a:ext cx="3291840" cy="68580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D48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5650992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D333B"/>
                </a:solidFill>
                <a:latin typeface="Calibri"/>
              </a:rPr>
              <a:t>Patient offered a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D333B"/>
                </a:solidFill>
                <a:latin typeface="Calibri"/>
              </a:rPr>
              <a:t>quick symptom 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57424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E7680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5577840"/>
            <a:ext cx="3291840" cy="68580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5650992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D333B"/>
                </a:solidFill>
                <a:latin typeface="Calibri"/>
              </a:rPr>
              <a:t>Feeds the same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D333B"/>
                </a:solidFill>
                <a:latin typeface="Calibri"/>
              </a:rPr>
              <a:t>urgency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6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6C8D2"/>
                </a:solidFill>
                <a:latin typeface="Calibri"/>
              </a:rPr>
              <a:t>THE PROJECT'S BIGGEST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3000"/>
              </a:lnSpc>
            </a:pPr>
            <a:r>
              <a:rPr sz="3300" b="1" i="0">
                <a:solidFill>
                  <a:srgbClr val="FFFFFF"/>
                </a:solidFill>
                <a:latin typeface="Calibri"/>
              </a:rPr>
              <a:t>Architectural complexity</a:t>
            </a:r>
          </a:p>
          <a:p>
            <a:pPr algn="l">
              <a:lnSpc>
                <a:spcPct val="103000"/>
              </a:lnSpc>
            </a:pPr>
            <a:r>
              <a:rPr sz="3300" b="1" i="0">
                <a:solidFill>
                  <a:srgbClr val="FFFFFF"/>
                </a:solidFill>
                <a:latin typeface="Calibri"/>
              </a:rPr>
              <a:t>must earn its place.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D2E1EB"/>
                </a:solidFill>
                <a:latin typeface="Calibri"/>
              </a:rPr>
              <a:t>It does not, by default, beat a simple baseline that is actually run — the same pattern appeared independently in both AI systems built for this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31920"/>
            <a:ext cx="5257800" cy="2194560"/>
          </a:xfrm>
          <a:prstGeom prst="roundRect">
            <a:avLst>
              <a:gd name="adj" fmla="val 4500"/>
            </a:avLst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5257800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51376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Blood Pressure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45152"/>
            <a:ext cx="4709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C3D7E1"/>
                </a:solidFill>
                <a:latin typeface="Calibri"/>
              </a:rPr>
              <a:t>A plain 1D-CNN beat the team's own TCN + BiLSTM + Attention model, purpose-built for this exact task.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C3D7E1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C3D7E1"/>
                </a:solidFill>
                <a:latin typeface="Calibri"/>
              </a:rPr>
              <a:t>SBP MAE: 9.08 (1D-CNN) vs. 10.17 (ours)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931920"/>
            <a:ext cx="5257800" cy="2194560"/>
          </a:xfrm>
          <a:prstGeom prst="roundRect">
            <a:avLst>
              <a:gd name="adj" fmla="val 4500"/>
            </a:avLst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3931920"/>
            <a:ext cx="5257800" cy="41148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4151376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Symptom Triage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4645152"/>
            <a:ext cx="4709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C3D7E1"/>
                </a:solidFill>
                <a:latin typeface="Calibri"/>
              </a:rPr>
              <a:t>Logistic Regression outscored the LightGBM model actually chosen for production, on the identical dataset.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C3D7E1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C3D7E1"/>
                </a:solidFill>
                <a:latin typeface="Calibri"/>
              </a:rPr>
              <a:t>Accuracy: 0.870 (LogReg) vs. 0.858 (LightGBM)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CDD7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A0CDD7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THE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Guided Blood-Pressure Measurement, Step by Step</a:t>
            </a:r>
          </a:p>
        </p:txBody>
      </p:sp>
      <p:pic>
        <p:nvPicPr>
          <p:cNvPr id="6" name="Picture 5" descr="screen_bp_1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56" y="1188720"/>
            <a:ext cx="2258086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2531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7680"/>
                </a:solidFill>
                <a:latin typeface="Calibri"/>
              </a:rPr>
              <a:t>1. Setup — live sensor status</a:t>
            </a:r>
          </a:p>
        </p:txBody>
      </p:sp>
      <p:pic>
        <p:nvPicPr>
          <p:cNvPr id="8" name="Picture 7" descr="screen_bp_2_meas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183" y="1188720"/>
            <a:ext cx="2260512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592531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7680"/>
                </a:solidFill>
                <a:latin typeface="Calibri"/>
              </a:rPr>
              <a:t>2. Measuring — 8s capture</a:t>
            </a:r>
          </a:p>
        </p:txBody>
      </p:sp>
      <p:pic>
        <p:nvPicPr>
          <p:cNvPr id="10" name="Picture 9" descr="screen_bp_3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458" y="1188720"/>
            <a:ext cx="2271243" cy="4663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592531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7680"/>
                </a:solidFill>
                <a:latin typeface="Calibri"/>
              </a:rPr>
              <a:t>3. Result — risk tier shown</a:t>
            </a:r>
          </a:p>
        </p:txBody>
      </p:sp>
      <p:pic>
        <p:nvPicPr>
          <p:cNvPr id="12" name="Picture 11" descr="screen_bp_4_his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3606" y="1188720"/>
            <a:ext cx="2258227" cy="4663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69680" y="592531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7680"/>
                </a:solidFill>
                <a:latin typeface="Calibri"/>
              </a:rPr>
              <a:t>4. History — trend, not a snapshot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THE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Medication Management &amp; the Smart Box</a:t>
            </a:r>
          </a:p>
        </p:txBody>
      </p:sp>
      <p:pic>
        <p:nvPicPr>
          <p:cNvPr id="6" name="Picture 5" descr="screen_med_1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13" y="1188720"/>
            <a:ext cx="2253773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2531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7680"/>
                </a:solidFill>
                <a:latin typeface="Calibri"/>
              </a:rPr>
              <a:t>1. Medication list</a:t>
            </a:r>
          </a:p>
        </p:txBody>
      </p:sp>
      <p:pic>
        <p:nvPicPr>
          <p:cNvPr id="8" name="Picture 7" descr="screen_med_2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645" y="1188720"/>
            <a:ext cx="2271589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592531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7680"/>
                </a:solidFill>
                <a:latin typeface="Calibri"/>
              </a:rPr>
              <a:t>2. Add / edit a medicine</a:t>
            </a:r>
          </a:p>
        </p:txBody>
      </p:sp>
      <p:pic>
        <p:nvPicPr>
          <p:cNvPr id="10" name="Picture 9" descr="screen_med_3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886" y="1188720"/>
            <a:ext cx="2260386" cy="4663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592531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7680"/>
                </a:solidFill>
                <a:latin typeface="Calibri"/>
              </a:rPr>
              <a:t>3. Assign a smart-box drawer</a:t>
            </a:r>
          </a:p>
        </p:txBody>
      </p:sp>
      <p:pic>
        <p:nvPicPr>
          <p:cNvPr id="12" name="Picture 11" descr="screen_med_4_ala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6006" y="1188720"/>
            <a:ext cx="2273426" cy="4663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69680" y="592531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7680"/>
                </a:solidFill>
                <a:latin typeface="Calibri"/>
              </a:rPr>
              <a:t>4. Full-screen dose alarm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THE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Structured Symptom-Checker Wizard</a:t>
            </a:r>
          </a:p>
        </p:txBody>
      </p:sp>
      <p:pic>
        <p:nvPicPr>
          <p:cNvPr id="6" name="Picture 5" descr="screen_sym_1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55" y="1188720"/>
            <a:ext cx="2282489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2531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7680"/>
                </a:solidFill>
                <a:latin typeface="Calibri"/>
              </a:rPr>
              <a:t>1. Category</a:t>
            </a:r>
          </a:p>
        </p:txBody>
      </p:sp>
      <p:pic>
        <p:nvPicPr>
          <p:cNvPr id="8" name="Picture 7" descr="screen_sym_2_sympto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000" y="1188720"/>
            <a:ext cx="2286879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592531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7680"/>
                </a:solidFill>
                <a:latin typeface="Calibri"/>
              </a:rPr>
              <a:t>2. Symptoms</a:t>
            </a:r>
          </a:p>
        </p:txBody>
      </p:sp>
      <p:pic>
        <p:nvPicPr>
          <p:cNvPr id="10" name="Picture 9" descr="screen_sym_3_seve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193" y="1188720"/>
            <a:ext cx="2253773" cy="4663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592531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7680"/>
                </a:solidFill>
                <a:latin typeface="Calibri"/>
              </a:rPr>
              <a:t>3. Severity</a:t>
            </a:r>
          </a:p>
        </p:txBody>
      </p:sp>
      <p:pic>
        <p:nvPicPr>
          <p:cNvPr id="12" name="Picture 11" descr="screen_sym_5_res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6006" y="1188720"/>
            <a:ext cx="2273426" cy="4663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69680" y="592531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7680"/>
                </a:solidFill>
                <a:latin typeface="Calibri"/>
              </a:rPr>
              <a:t>4. Result &amp; urgency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THE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Emergency Calling, Built In</a:t>
            </a:r>
          </a:p>
        </p:txBody>
      </p:sp>
      <p:pic>
        <p:nvPicPr>
          <p:cNvPr id="6" name="Picture 5" descr="screen_call_1_outgo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60" y="1188720"/>
            <a:ext cx="2282678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2531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7680"/>
                </a:solidFill>
                <a:latin typeface="Calibri"/>
              </a:rPr>
              <a:t>Outgoing call</a:t>
            </a:r>
          </a:p>
        </p:txBody>
      </p:sp>
      <p:pic>
        <p:nvPicPr>
          <p:cNvPr id="8" name="Picture 7" descr="screen_call_2_incom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645" y="1188720"/>
            <a:ext cx="2271589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592531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7680"/>
                </a:solidFill>
                <a:latin typeface="Calibri"/>
              </a:rPr>
              <a:t>Incoming call</a:t>
            </a:r>
          </a:p>
        </p:txBody>
      </p:sp>
      <p:pic>
        <p:nvPicPr>
          <p:cNvPr id="10" name="Picture 9" descr="screen_call_3_ac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835" y="1188720"/>
            <a:ext cx="2282489" cy="4663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592531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7680"/>
                </a:solidFill>
                <a:latin typeface="Calibri"/>
              </a:rPr>
              <a:t>Active call</a:t>
            </a:r>
          </a:p>
        </p:txBody>
      </p:sp>
      <p:pic>
        <p:nvPicPr>
          <p:cNvPr id="12" name="Picture 11" descr="screen_call_4_emergen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7216" y="1188720"/>
            <a:ext cx="2251006" cy="4663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69680" y="592531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7680"/>
                </a:solidFill>
                <a:latin typeface="Calibri"/>
              </a:rPr>
              <a:t>Emergency call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THE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Notifications Inbox</a:t>
            </a:r>
          </a:p>
        </p:txBody>
      </p:sp>
      <p:pic>
        <p:nvPicPr>
          <p:cNvPr id="6" name="Picture 5" descr="screen_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417" y="1188720"/>
            <a:ext cx="2464404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188720"/>
            <a:ext cx="3840480" cy="507492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64008" cy="507492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33502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2D333B"/>
                </a:solidFill>
                <a:latin typeface="Calibri"/>
              </a:rPr>
              <a:t>Every alert, in one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55648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00838F"/>
                </a:solidFill>
                <a:latin typeface="Calibri"/>
              </a:rPr>
              <a:t>●  </a:t>
            </a:r>
            <a:r>
              <a:rPr sz="1500" b="0">
                <a:solidFill>
                  <a:srgbClr val="46505A"/>
                </a:solidFill>
                <a:latin typeface="Calibri"/>
              </a:rPr>
              <a:t>Medication reminders and confirmations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00838F"/>
                </a:solidFill>
                <a:latin typeface="Calibri"/>
              </a:rPr>
              <a:t>●  </a:t>
            </a:r>
            <a:r>
              <a:rPr sz="1500" b="0">
                <a:solidFill>
                  <a:srgbClr val="46505A"/>
                </a:solidFill>
                <a:latin typeface="Calibri"/>
              </a:rPr>
              <a:t>BP risk-tier alerts sent to a linked caregiver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00838F"/>
                </a:solidFill>
                <a:latin typeface="Calibri"/>
              </a:rPr>
              <a:t>●  </a:t>
            </a:r>
            <a:r>
              <a:rPr sz="1500" b="0">
                <a:solidFill>
                  <a:srgbClr val="46505A"/>
                </a:solidFill>
                <a:latin typeface="Calibri"/>
              </a:rPr>
              <a:t>Calibration drift / staleness prompts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00838F"/>
                </a:solidFill>
                <a:latin typeface="Calibri"/>
              </a:rPr>
              <a:t>●  </a:t>
            </a:r>
            <a:r>
              <a:rPr sz="1500" b="0">
                <a:solidFill>
                  <a:srgbClr val="46505A"/>
                </a:solidFill>
                <a:latin typeface="Calibri"/>
              </a:rPr>
              <a:t>Symptom-checker urgency notifications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00838F"/>
                </a:solidFill>
                <a:latin typeface="Calibri"/>
              </a:rPr>
              <a:t>●  </a:t>
            </a:r>
            <a:r>
              <a:rPr sz="1500" b="0">
                <a:solidFill>
                  <a:srgbClr val="46505A"/>
                </a:solidFill>
                <a:latin typeface="Calibri"/>
              </a:rPr>
              <a:t>Read / unread state, oldest to newest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188720"/>
            <a:ext cx="3840480" cy="507492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1188720"/>
            <a:ext cx="64008" cy="5074920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133502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2D333B"/>
                </a:solidFill>
                <a:latin typeface="Calibri"/>
              </a:rPr>
              <a:t>How Alerts Are 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1755648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D4820F"/>
                </a:solidFill>
                <a:latin typeface="Calibri"/>
              </a:rPr>
              <a:t>●  </a:t>
            </a:r>
            <a:r>
              <a:rPr sz="1500" b="0">
                <a:solidFill>
                  <a:srgbClr val="46505A"/>
                </a:solidFill>
                <a:latin typeface="Calibri"/>
              </a:rPr>
              <a:t>Firebase Cloud Messaging push, plus a persistent in-app inbox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D4820F"/>
                </a:solidFill>
                <a:latin typeface="Calibri"/>
              </a:rPr>
              <a:t>●  </a:t>
            </a:r>
            <a:r>
              <a:rPr sz="1500" b="0">
                <a:solidFill>
                  <a:srgbClr val="46505A"/>
                </a:solidFill>
                <a:latin typeface="Calibri"/>
              </a:rPr>
              <a:t>Caregiver BP alerts respect a cooldown — 15 min for critical, 30 min for high — so one event never floods them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D4820F"/>
                </a:solidFill>
                <a:latin typeface="Calibri"/>
              </a:rPr>
              <a:t>●  </a:t>
            </a:r>
            <a:r>
              <a:rPr sz="1500" b="0">
                <a:solidFill>
                  <a:srgbClr val="46505A"/>
                </a:solidFill>
                <a:latin typeface="Calibri"/>
              </a:rPr>
              <a:t>Read / unread state persists per user across devices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BUILT FOR EVERYONE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Bilingual and Offline-First, Not as an Afterthought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64008" cy="155448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89888"/>
            <a:ext cx="3200400" cy="901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38F"/>
                </a:solidFill>
                <a:latin typeface="Calibri"/>
              </a:rPr>
              <a:t>613 / 614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43937"/>
            <a:ext cx="3200400" cy="544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English / Arabic translation keys — near 1:1 parity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64008" cy="1554480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389888"/>
            <a:ext cx="3200400" cy="901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820F"/>
                </a:solidFill>
                <a:latin typeface="Calibr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243937"/>
            <a:ext cx="3200400" cy="544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of reminders &amp; alerts localized, not just static 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28016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280160"/>
            <a:ext cx="64008" cy="1554480"/>
          </a:xfrm>
          <a:prstGeom prst="rect">
            <a:avLst/>
          </a:prstGeom>
          <a:solidFill>
            <a:srgbClr val="5E3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389888"/>
            <a:ext cx="3291840" cy="901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E35B1"/>
                </a:solidFill>
                <a:latin typeface="Calibri"/>
              </a:rPr>
              <a:t>Hive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243937"/>
            <a:ext cx="3291840" cy="544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offline cache for last-known BP reading &amp;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2004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2D333B"/>
                </a:solidFill>
                <a:latin typeface="Calibri"/>
              </a:rPr>
              <a:t>Full right-to-left layout for Arabic — a first-class concern in the codebase, implemented at the translation-key level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2D333B"/>
                </a:solidFill>
                <a:latin typeface="Calibri"/>
              </a:rPr>
              <a:t>Risk levels (Normal/Low/Moderate/High/Critical) are computed once in the backend as plain strings — the UI decides how to translate and display them, never the reverse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2D333B"/>
                </a:solidFill>
                <a:latin typeface="Calibri"/>
              </a:rPr>
              <a:t>Reminders keep firing locally without connectivity; the last known BP reading and history stay visible offline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12080"/>
            <a:ext cx="544068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33B"/>
                </a:solidFill>
                <a:latin typeface="Calibri"/>
              </a:rPr>
              <a:t>English  →  left to right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69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6505A"/>
                </a:solidFill>
                <a:latin typeface="Calibri"/>
              </a:rPr>
              <a:t>Home  &gt;  Vitals  &gt;  BP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5212080"/>
            <a:ext cx="553212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5349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D333B"/>
                </a:solidFill>
                <a:latin typeface="Calibri"/>
              </a:rPr>
              <a:t>العربية  ←  right to left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669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05A"/>
                </a:solidFill>
                <a:latin typeface="Calibri"/>
              </a:rPr>
              <a:t>سجل ضغط الدم  &lt;  المؤشرات  &lt;  الرئيسية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6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6C8D2"/>
                </a:solidFill>
                <a:latin typeface="Calibri"/>
              </a:rP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3000"/>
              </a:lnSpc>
            </a:pPr>
            <a:r>
              <a:rPr sz="3300" b="1" i="0">
                <a:solidFill>
                  <a:srgbClr val="FFFFFF"/>
                </a:solidFill>
                <a:latin typeface="Calibri"/>
              </a:rPr>
              <a:t>Who We Built This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3383280" cy="3657600"/>
          </a:xfrm>
          <a:prstGeom prst="roundRect">
            <a:avLst>
              <a:gd name="adj" fmla="val 4500"/>
            </a:avLst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3383280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9689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Elderly Hypertension 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90672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C3D7E1"/>
                </a:solidFill>
                <a:latin typeface="Calibri"/>
              </a:rPr>
              <a:t>Large, simple UI and a guided sensor flow that removes every step they could get wrong, in their own language.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77440"/>
            <a:ext cx="3383280" cy="3657600"/>
          </a:xfrm>
          <a:prstGeom prst="roundRect">
            <a:avLst>
              <a:gd name="adj" fmla="val 4500"/>
            </a:avLst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2377440"/>
            <a:ext cx="3383280" cy="41148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59689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Any Long-Term Hypertension Patient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90672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C3D7E1"/>
                </a:solidFill>
                <a:latin typeface="Calibri"/>
              </a:rPr>
              <a:t>Continuous history instead of clinic snapshots, with automatic caregiver escalation on a critical reading.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377440"/>
            <a:ext cx="3383280" cy="3657600"/>
          </a:xfrm>
          <a:prstGeom prst="roundRect">
            <a:avLst>
              <a:gd name="adj" fmla="val 4500"/>
            </a:avLst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2377440"/>
            <a:ext cx="3383280" cy="41148"/>
          </a:xfrm>
          <a:prstGeom prst="rect">
            <a:avLst/>
          </a:prstGeom>
          <a:solidFill>
            <a:srgbClr val="5E3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59689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Memory-Impaired Patients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090672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C3D7E1"/>
                </a:solidFill>
                <a:latin typeface="Calibri"/>
              </a:rPr>
              <a:t>The smart box turns “time for a dose” into one unambiguous physical pointer at a single drawer.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CDD7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A0CDD7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 Works, What's Left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394960" cy="402336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" cy="4023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3502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2D333B"/>
                </a:solidFill>
                <a:latin typeface="Calibri"/>
              </a:rPr>
              <a:t>What we hardened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55648"/>
            <a:ext cx="49377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●  </a:t>
            </a:r>
            <a:r>
              <a:rPr sz="1500" b="0">
                <a:solidFill>
                  <a:srgbClr val="46505A"/>
                </a:solidFill>
                <a:latin typeface="Calibri"/>
              </a:rPr>
              <a:t>Hardware fails soft — a missing model or unreachable device degrades, never crashes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●  </a:t>
            </a:r>
            <a:r>
              <a:rPr sz="1500" b="0">
                <a:solidFill>
                  <a:srgbClr val="46505A"/>
                </a:solidFill>
                <a:latin typeface="Calibri"/>
              </a:rPr>
              <a:t>Dedicated unit tests on the newest, safety-relevant code: the rule engine, BP endpoints, calibration/drift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●  </a:t>
            </a:r>
            <a:r>
              <a:rPr sz="1500" b="0">
                <a:solidFill>
                  <a:srgbClr val="46505A"/>
                </a:solidFill>
                <a:latin typeface="Calibri"/>
              </a:rPr>
              <a:t>Every clinical output is clamped to a physiologically plausible range before it reaches a screen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●  </a:t>
            </a:r>
            <a:r>
              <a:rPr sz="1500" b="0">
                <a:solidFill>
                  <a:srgbClr val="46505A"/>
                </a:solidFill>
                <a:latin typeface="Calibri"/>
              </a:rPr>
              <a:t>Automated test scans for Arabic text-encoding corruption — a real, previously-seen bug class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88720"/>
            <a:ext cx="5394960" cy="402336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64008" cy="4023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33502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2D333B"/>
                </a:solidFill>
                <a:latin typeface="Calibri"/>
              </a:rPr>
              <a:t>What's Still 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755648"/>
            <a:ext cx="49377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C62828"/>
                </a:solidFill>
                <a:latin typeface="Calibri"/>
              </a:rPr>
              <a:t>●  </a:t>
            </a:r>
            <a:r>
              <a:rPr sz="1500" b="0">
                <a:solidFill>
                  <a:srgbClr val="46505A"/>
                </a:solidFill>
                <a:latin typeface="Calibri"/>
              </a:rPr>
              <a:t>Session/token revocation isn't implemented — a standard stateless-JWT tradeoff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C62828"/>
                </a:solidFill>
                <a:latin typeface="Calibri"/>
              </a:rPr>
              <a:t>●  </a:t>
            </a:r>
            <a:r>
              <a:rPr sz="1500" b="0">
                <a:solidFill>
                  <a:srgbClr val="46505A"/>
                </a:solidFill>
                <a:latin typeface="Calibri"/>
              </a:rPr>
              <a:t>The caregiver-linking QR code carries a plain, unencrypted user ID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C62828"/>
                </a:solidFill>
                <a:latin typeface="Calibri"/>
              </a:rPr>
              <a:t>●  </a:t>
            </a:r>
            <a:r>
              <a:rPr sz="1500" b="0">
                <a:solidFill>
                  <a:srgbClr val="46505A"/>
                </a:solidFill>
                <a:latin typeface="Calibri"/>
              </a:rPr>
              <a:t>/iot/sensors/* always returns simulated data, regardless of mode — it should not be read as live telemetry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C62828"/>
                </a:solidFill>
                <a:latin typeface="Calibri"/>
              </a:rPr>
              <a:t>●  </a:t>
            </a:r>
            <a:r>
              <a:rPr sz="1500" b="0">
                <a:solidFill>
                  <a:srgbClr val="46505A"/>
                </a:solidFill>
                <a:latin typeface="Calibri"/>
              </a:rPr>
              <a:t>Test coverage is concentrated on the newest BP/symptom-checker work, not spread evenly across the codebase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349240"/>
            <a:ext cx="3596640" cy="868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34924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404103"/>
            <a:ext cx="332232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800953"/>
            <a:ext cx="3322320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E7680"/>
                </a:solidFill>
                <a:latin typeface="Calibri"/>
              </a:rPr>
              <a:t>automated backend test suites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2439" y="5349240"/>
            <a:ext cx="3596640" cy="868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2439" y="534924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7031" y="5404103"/>
            <a:ext cx="332232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7031" y="5800953"/>
            <a:ext cx="3322320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E7680"/>
                </a:solidFill>
                <a:latin typeface="Calibri"/>
              </a:rPr>
              <a:t>crashes from a missing model/device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1960" y="5349240"/>
            <a:ext cx="3596640" cy="868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1960" y="5349240"/>
            <a:ext cx="54864" cy="8686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6551" y="5404103"/>
            <a:ext cx="3322320" cy="4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6551" y="5800953"/>
            <a:ext cx="3322320" cy="399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6E7680"/>
                </a:solidFill>
                <a:latin typeface="Calibri"/>
              </a:rPr>
              <a:t>known open gaps, disclosed above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RESULTS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Project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" cy="233172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298448"/>
            <a:ext cx="2331720" cy="1352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38F"/>
                </a:solidFill>
                <a:latin typeface="Calibri"/>
              </a:rPr>
              <a:t>4.91 mmHg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634386"/>
            <a:ext cx="2331720" cy="8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DBP MAE — clears AAMI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188720"/>
            <a:ext cx="64008" cy="2331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298448"/>
            <a:ext cx="2331720" cy="1352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E7D32"/>
                </a:solidFill>
                <a:latin typeface="Calibri"/>
              </a:rPr>
              <a:t>85.8% / 95.5%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634386"/>
            <a:ext cx="2331720" cy="8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symptom-triage top-1 / top-3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1887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188720"/>
            <a:ext cx="64008" cy="2331720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298448"/>
            <a:ext cx="2331720" cy="1352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820F"/>
                </a:solidFill>
                <a:latin typeface="Calibri"/>
              </a:rPr>
              <a:t>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634386"/>
            <a:ext cx="2331720" cy="8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database tables, 1 backend of record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1887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188720"/>
            <a:ext cx="64008" cy="2331720"/>
          </a:xfrm>
          <a:prstGeom prst="rect">
            <a:avLst/>
          </a:prstGeom>
          <a:solidFill>
            <a:srgbClr val="5E3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298448"/>
            <a:ext cx="2331720" cy="1352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E35B1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634386"/>
            <a:ext cx="2331720" cy="8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custom IoT devices, built from scratch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033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64008" cy="233172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813048"/>
            <a:ext cx="2331720" cy="1352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38F"/>
                </a:solidFill>
                <a:latin typeface="Calibri"/>
              </a:rPr>
              <a:t>653K+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5148986"/>
            <a:ext cx="2331720" cy="8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signal windows across 1,631 patients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37033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3703320"/>
            <a:ext cx="64008" cy="2331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38728" y="3813048"/>
            <a:ext cx="2331720" cy="1352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E7D32"/>
                </a:solidFill>
                <a:latin typeface="Calibri"/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8728" y="5148986"/>
            <a:ext cx="2331720" cy="8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automated backend test suites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033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703320"/>
            <a:ext cx="64008" cy="2331720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3813048"/>
            <a:ext cx="2331720" cy="1352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820F"/>
                </a:solidFill>
                <a:latin typeface="Calibri"/>
              </a:rPr>
              <a:t>613/614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5148986"/>
            <a:ext cx="2331720" cy="8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EN/AR translation-key parity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3703320"/>
            <a:ext cx="26974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06840" y="3703320"/>
            <a:ext cx="64008" cy="2331720"/>
          </a:xfrm>
          <a:prstGeom prst="rect">
            <a:avLst/>
          </a:prstGeom>
          <a:solidFill>
            <a:srgbClr val="5E3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08008" y="3813048"/>
            <a:ext cx="2331720" cy="1352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E35B1"/>
                </a:solidFill>
                <a:latin typeface="Calibri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5148986"/>
            <a:ext cx="2331720" cy="8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cross-confusion in targeted disease pairs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KNOWN RISKS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Risk Register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5568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26880"/>
                <a:gridCol w="1828800"/>
              </a:tblGrid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anchor="ctr" marL="73152" marR="73152">
                    <a:solidFill>
                      <a:srgbClr val="003C6E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D333B"/>
                          </a:solidFill>
                          <a:latin typeface="Calibri"/>
                        </a:rPr>
                        <a:t>SBP estimation fails the clinical AAMI standard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62828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D333B"/>
                          </a:solidFill>
                          <a:latin typeface="Calibri"/>
                        </a:rPr>
                        <a:t>Symptom checker weakest on cardiac subtypes — the project's own focus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62828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D333B"/>
                          </a:solidFill>
                          <a:latin typeface="Calibri"/>
                        </a:rPr>
                        <a:t>No server-side session / refresh-token revocation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D4820F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D333B"/>
                          </a:solidFill>
                          <a:latin typeface="Calibri"/>
                        </a:rPr>
                        <a:t>Caregiver-linking QR code is an unencrypted user ID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D4820F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 marR="73152">
                    <a:solidFill>
                      <a:srgbClr val="F2F4F7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D333B"/>
                          </a:solidFill>
                          <a:latin typeface="Calibri"/>
                        </a:rPr>
                        <a:t>BP model not yet validated against real sensor hardware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D4820F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6177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2D333B"/>
                </a:solidFill>
                <a:latin typeface="Calibri"/>
              </a:rPr>
              <a:t>Severity reflects how directly each risk affects the core clinical claim or production-readiness — each maps to a mitigation on the roadmap that follows.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349240"/>
            <a:ext cx="35661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349240"/>
            <a:ext cx="64008" cy="10058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5458968"/>
            <a:ext cx="3200400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62828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5972860"/>
            <a:ext cx="320040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high-severity risks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5349240"/>
            <a:ext cx="35661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5349240"/>
            <a:ext cx="64008" cy="1005840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5458968"/>
            <a:ext cx="3200400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4820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5972860"/>
            <a:ext cx="320040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medium-severity risks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5349240"/>
            <a:ext cx="36576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5349240"/>
            <a:ext cx="64008" cy="1005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5458968"/>
            <a:ext cx="3291840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7D32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5972860"/>
            <a:ext cx="329184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680"/>
                </a:solidFill>
                <a:latin typeface="Calibri"/>
              </a:rPr>
              <a:t>tracked risks, each with a mitigation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96C8D2"/>
                </a:solidFill>
                <a:latin typeface="Calibri"/>
              </a:rPr>
              <a:t>ROADMAP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383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 Comes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394960" cy="356616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" cy="356616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3502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2D333B"/>
                </a:solidFill>
                <a:latin typeface="Calibri"/>
              </a:rPr>
              <a:t>Validate against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55648"/>
            <a:ext cx="49377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Collect real MAX30102/AD8232 recordings against reference cuff readings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Re-run the calibration study using samples genuinely separated in time, matching how the deployed service actually collects them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00838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Investigate why the attention-based model underperformed the simpler 1D-CNN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88720"/>
            <a:ext cx="5394960" cy="356616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64008" cy="3566160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33502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2D333B"/>
                </a:solidFill>
                <a:latin typeface="Calibri"/>
              </a:rPr>
              <a:t>Harden for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755648"/>
            <a:ext cx="49377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D4820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Server-side session/refresh-token revocation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D4820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Sign, encrypt or expire the caregiver-linking QR payload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D4820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Clinical sign-off on the one still-unsigned BP threshold in the triage rules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50" b="1">
                <a:solidFill>
                  <a:srgbClr val="D4820F"/>
                </a:solidFill>
                <a:latin typeface="Calibri"/>
              </a:rPr>
              <a:t>●  </a:t>
            </a:r>
            <a:r>
              <a:rPr sz="1450" b="0">
                <a:solidFill>
                  <a:srgbClr val="46505A"/>
                </a:solidFill>
                <a:latin typeface="Calibri"/>
              </a:rPr>
              <a:t>Unify the two symptom-checker generations behind one entry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8348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838F"/>
                </a:solidFill>
                <a:latin typeface="Calibri"/>
              </a:rPr>
              <a:t>HOW WE GET THERE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349240"/>
            <a:ext cx="2606040" cy="96012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0083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42239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38F"/>
                </a:solidFill>
                <a:latin typeface="Calibri"/>
              </a:rPr>
              <a:t>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4243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D333B"/>
                </a:solidFill>
                <a:latin typeface="Calibri"/>
              </a:rPr>
              <a:t>Working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5623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E7680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39" y="5349240"/>
            <a:ext cx="2606040" cy="96012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D48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8999" y="542239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820F"/>
                </a:solidFill>
                <a:latin typeface="Calibri"/>
              </a:rP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8999" y="574243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D333B"/>
                </a:solidFill>
                <a:latin typeface="Calibri"/>
              </a:rPr>
              <a:t>Real-hardware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16168" y="5623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E7680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59" y="5349240"/>
            <a:ext cx="2606040" cy="96012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5E3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542239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35B1"/>
                </a:solidFill>
                <a:latin typeface="Calibri"/>
              </a:rPr>
              <a:t>Then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74243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D333B"/>
                </a:solidFill>
                <a:latin typeface="Calibri"/>
              </a:rPr>
              <a:t>Security hardening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5623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E7680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5349240"/>
            <a:ext cx="2606040" cy="960120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542239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Goal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574243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D333B"/>
                </a:solidFill>
                <a:latin typeface="Calibri"/>
              </a:rPr>
              <a:t>Clinical sign-off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680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6E7680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6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6C8D2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3000"/>
              </a:lnSpc>
            </a:pPr>
            <a:r>
              <a:rPr sz="3300" b="1" i="0">
                <a:solidFill>
                  <a:srgbClr val="FFFFFF"/>
                </a:solidFill>
                <a:latin typeface="Calibri"/>
              </a:rPr>
              <a:t>Health Mate, in One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D2E1EB"/>
                </a:solidFill>
                <a:latin typeface="Calibri"/>
              </a:rPr>
              <a:t>A working, end-to-end remote-monitoring system spanning custom sensor hardware, two independently trained AI models, and a backend that centralizes every clinical decision — built and evaluated end-to-end, from firmware to trained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2044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3383280" cy="4114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73989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4.91 mmHg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33672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3D7E1"/>
                </a:solidFill>
                <a:latin typeface="Calibri"/>
              </a:rPr>
              <a:t>DBP MAE — clears AAMI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52044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3520440"/>
            <a:ext cx="3383280" cy="41148"/>
          </a:xfrm>
          <a:prstGeom prst="rect">
            <a:avLst/>
          </a:prstGeom>
          <a:solidFill>
            <a:srgbClr val="D48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73989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85.8% / 95.5%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233672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3D7E1"/>
                </a:solidFill>
                <a:latin typeface="Calibri"/>
              </a:rPr>
              <a:t>symptom-triage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52044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0F3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3520440"/>
            <a:ext cx="3383280" cy="41148"/>
          </a:xfrm>
          <a:prstGeom prst="rect">
            <a:avLst/>
          </a:prstGeom>
          <a:solidFill>
            <a:srgbClr val="5E3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73989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21 tables / 4 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233672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3D7E1"/>
                </a:solidFill>
                <a:latin typeface="Calibri"/>
              </a:rPr>
              <a:t>one coherent, working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A0CDD7"/>
                </a:solidFill>
                <a:latin typeface="Calibri"/>
              </a:rPr>
              <a:t>Every number in this deck is measured directly from the code and data, and every limitation is disclosed deliberately.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CDD7"/>
                </a:solidFill>
                <a:latin typeface="Calibri"/>
              </a:rPr>
              <a:t>Health Mate  •  Zagazig University — 2025/2026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10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A0CDD7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6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461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2E1EB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43484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0838F"/>
                </a:solidFill>
                <a:latin typeface="Calibri"/>
              </a:rPr>
              <a:t>HEALTH MATE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Omar Ashraf Mohamed Kamal   •   Seif EL-Deen Amr Mohamed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Rofida Mohamed Ahmed Ibrahim   •   Farida Abdelazim Gharib Mohamed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6235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4D2DC"/>
                </a:solidFill>
                <a:latin typeface="Calibri"/>
              </a:rPr>
              <a:t>Supervised by Ass. Prof. Dr. Amr Abdellatif  &amp;  Eng. Mohamed Ameen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