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F117-ACAC-D2A3-5DAA-197CD4EF1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5BAF8-E2D8-06CA-4A70-699A5CD00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33259-18C9-B0B9-A733-82A952E6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E29D3-F3BC-7108-BA2F-5E862415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F91A-4D1E-8CF4-A6A7-35DA9667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9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1B09-A362-26A3-286D-9292C3E6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F5A9-5B32-671C-C677-ED69BBA8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BDD92-EC7B-5102-24AF-0D03360E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402CF-30D7-D150-CB2C-DF56526C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C628-F95E-5DA2-4D78-4DA9076E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7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DA22-3741-2309-5F6E-DCA3046C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4361E-F616-0F7D-158A-05730D41A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3103C-79F7-99D5-85C7-C5200D9C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EAC1E-6C35-C2B4-B466-226D8E00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E8E3-8833-4A1E-8C38-FDF3A35C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38CD-AE0C-427E-B958-A5924CDC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54BB-59C5-FF4E-FD7A-B3F444B9E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2B86E-57FD-5276-23A5-0621063E8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3D3B5-D125-C79C-3A4D-D42E5F8E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055BF-FAFA-514C-1379-4E1EE2F78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B824B-FD4E-5444-BB15-39181412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895B-CB80-9E6C-9532-C12E350E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C481D-66B8-F56F-8516-1CB50F02F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656CF-4469-5FD9-864F-6917BA508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7F9F-4925-0EE8-D59D-A86F9CE2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6E481-73F7-7491-F1D5-D7E833495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B3111-D4F5-9F39-AD94-DC698483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42D13-73AC-6C8A-D3B7-499274CC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3BB01-BCED-FE75-E6BB-67F8AAB1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1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E300-0C63-F2F0-1A5F-18B88E65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6B1B2-2B1C-503F-0A35-9E9D2A79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A8669-76B4-3B9B-092D-6F2CBBE0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97AD7-7F7F-B5A1-946E-D1209ADD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CEF84-B01D-17F7-4BCE-BB35E795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07C82-7C62-6B93-C504-DCC4765A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93A2B-2CCC-91BA-B5CE-06329E9C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4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C073-2400-6C75-A72F-11CC09A7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48E-6E80-9635-3F93-3B5A14DD1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F95BA-2DB2-37BF-5721-80A2A86E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EF23-D5B1-2A92-884B-FB3ADBE5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C2D31-22B0-C7D4-B879-C0153A79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2776C-BF4F-DAA6-A9F7-9F98316D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6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8A15-DEE7-BD4D-70FB-0B48A635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F1A91-4C4B-CC61-AD71-11BFE6AAE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34929-D799-5FEC-35EB-7D290E5C9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10E93-E831-A1CF-1D8C-B8533F5C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227F7-70AA-35AB-F165-8E49D38E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2CABB-4946-1CB5-183D-E68736F8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9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26EA-EDEC-074C-589F-DB475D430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FD71B-3DDE-0B4D-A9F6-5E9372FFC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EED7D-1C89-CB12-00CC-350E813A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042DC-C8E2-891A-BF08-051CD3EE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09222-6BF2-BFA2-AEF1-92D33C6E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1032A-04EF-A3CA-104F-C7922B6E7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B79FD-2167-FE73-ECE2-825BFC6BC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8365-6A32-97A4-97B4-385388801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6023C-075E-623C-308A-9D288C49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C9FEF-6498-322D-A0CA-64A9BA4C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8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8E45D-122D-8027-8966-1FD8AF42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06CCA-639C-7670-C0B8-B6B510C1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983D9-1992-8F34-B2F2-224A5717C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26E41-4E73-494A-AFCC-8E77775E90F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B7740-3298-4F11-C515-FC052648C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2C194-F52F-5A53-86DD-E16474EC9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D6358-0DB2-46F8-B418-E142C4A7A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6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91DCC1-7611-A8EB-68B5-1B9EAA9ECE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 w="0">
            <a:solidFill>
              <a:srgbClr val="07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92C0F-C707-2291-9D14-C3651427E5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55600"/>
            <a:ext cx="1320800" cy="66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E1CC6A-9DEF-C56A-B609-2350ED7840F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361" y="368300"/>
            <a:ext cx="1369678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9BF97E-3F78-63AA-7898-DAB99A154B1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320800"/>
            <a:ext cx="2794000" cy="279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6048B8-D383-D976-B673-1D6EFBD3AA55}"/>
              </a:ext>
            </a:extLst>
          </p:cNvPr>
          <p:cNvSpPr txBox="1"/>
          <p:nvPr/>
        </p:nvSpPr>
        <p:spPr>
          <a:xfrm>
            <a:off x="685800" y="1676400"/>
            <a:ext cx="6604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000" b="1">
                <a:solidFill>
                  <a:srgbClr val="FFFFFF"/>
                </a:solidFill>
                <a:latin typeface="Segoe UI" panose="020B0502040204020203" pitchFamily="34" charset="0"/>
              </a:rPr>
              <a:t>Health Mate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708A43-BEDE-D7F9-3123-BCF8D4F0BFBD}"/>
              </a:ext>
            </a:extLst>
          </p:cNvPr>
          <p:cNvSpPr txBox="1"/>
          <p:nvPr/>
        </p:nvSpPr>
        <p:spPr>
          <a:xfrm>
            <a:off x="736600" y="2616200"/>
            <a:ext cx="6731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C8E6E7"/>
                </a:solidFill>
                <a:latin typeface="Segoe UI" panose="020B0502040204020203" pitchFamily="34" charset="0"/>
              </a:rPr>
              <a:t>An AI-assisted remote monitoring system for chronic cardiovascular care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F42CA-3CB1-C54B-4422-362E55B4DF39}"/>
              </a:ext>
            </a:extLst>
          </p:cNvPr>
          <p:cNvSpPr txBox="1"/>
          <p:nvPr/>
        </p:nvSpPr>
        <p:spPr>
          <a:xfrm>
            <a:off x="736600" y="3632200"/>
            <a:ext cx="673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9ECFD1"/>
                </a:solidFill>
                <a:latin typeface="Segoe UI" panose="020B0502040204020203" pitchFamily="34" charset="0"/>
              </a:rPr>
              <a:t>Graduation Project Defense - AI and Data Science Program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FAE05-A121-7FF1-5E50-B382EB974593}"/>
              </a:ext>
            </a:extLst>
          </p:cNvPr>
          <p:cNvSpPr txBox="1"/>
          <p:nvPr/>
        </p:nvSpPr>
        <p:spPr>
          <a:xfrm>
            <a:off x="736600" y="53086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Omar Ashraf Mohamed Kamal (Team Leader)  -  Seif EL-Deen Amr Mohamed</a:t>
            </a:r>
          </a:p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Rofida Mohamed Ahmed Ibrahim  -  Farida Abdelazim Gharib Mohamed</a:t>
            </a:r>
          </a:p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Supervised by ASS. Prof. Dr. Amr Abdellatif and Eng. Mohamed Ameen</a:t>
            </a:r>
          </a:p>
        </p:txBody>
      </p:sp>
    </p:spTree>
    <p:extLst>
      <p:ext uri="{BB962C8B-B14F-4D97-AF65-F5344CB8AC3E}">
        <p14:creationId xmlns:p14="http://schemas.microsoft.com/office/powerpoint/2010/main" val="3243254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9104E6-7012-EC3A-789E-7764B8798DB3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OPENING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C2AEF-5F97-FD9F-6FBD-E0A59717373B}"/>
              </a:ext>
            </a:extLst>
          </p:cNvPr>
          <p:cNvSpPr txBox="1"/>
          <p:nvPr/>
        </p:nvSpPr>
        <p:spPr>
          <a:xfrm>
            <a:off x="558800" y="660400"/>
            <a:ext cx="10795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The project closes the gap between a reading and a response.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ED34E-EBA2-94C4-9D7F-6B29A96AB2AB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Health Mate is not a single-feature app; it is an end-to-end loop for patients and caregivers.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D12904-EFEE-CF3B-147A-37B57C5CE638}"/>
              </a:ext>
            </a:extLst>
          </p:cNvPr>
          <p:cNvSpPr/>
          <p:nvPr/>
        </p:nvSpPr>
        <p:spPr>
          <a:xfrm>
            <a:off x="889000" y="2260600"/>
            <a:ext cx="2667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7972C-FFB2-5F66-ADB5-5A520B3B52B1}"/>
              </a:ext>
            </a:extLst>
          </p:cNvPr>
          <p:cNvSpPr txBox="1"/>
          <p:nvPr/>
        </p:nvSpPr>
        <p:spPr>
          <a:xfrm>
            <a:off x="1066800" y="24257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0F7C80"/>
                </a:solidFill>
                <a:latin typeface="Segoe UI" panose="020B0502040204020203" pitchFamily="34" charset="0"/>
              </a:rPr>
              <a:t>Measure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476D9-550A-8423-9B79-0E66B785841F}"/>
              </a:ext>
            </a:extLst>
          </p:cNvPr>
          <p:cNvSpPr txBox="1"/>
          <p:nvPr/>
        </p:nvSpPr>
        <p:spPr>
          <a:xfrm>
            <a:off x="1041400" y="2908300"/>
            <a:ext cx="2362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8-second PPG + ECG capture, or manual cuff reading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92DD7D-9308-DC4F-F67A-D295FBCC3A02}"/>
              </a:ext>
            </a:extLst>
          </p:cNvPr>
          <p:cNvSpPr/>
          <p:nvPr/>
        </p:nvSpPr>
        <p:spPr>
          <a:xfrm>
            <a:off x="4749800" y="2260600"/>
            <a:ext cx="2667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18DD5-FCF2-77CC-70B1-035E33F7D9F5}"/>
              </a:ext>
            </a:extLst>
          </p:cNvPr>
          <p:cNvSpPr txBox="1"/>
          <p:nvPr/>
        </p:nvSpPr>
        <p:spPr>
          <a:xfrm>
            <a:off x="4927600" y="24257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3A86B7"/>
                </a:solidFill>
                <a:latin typeface="Segoe UI" panose="020B0502040204020203" pitchFamily="34" charset="0"/>
              </a:rPr>
              <a:t>Understand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8E390E-8FFC-C249-23DA-E8BF313D0389}"/>
              </a:ext>
            </a:extLst>
          </p:cNvPr>
          <p:cNvSpPr txBox="1"/>
          <p:nvPr/>
        </p:nvSpPr>
        <p:spPr>
          <a:xfrm>
            <a:off x="4902200" y="2908300"/>
            <a:ext cx="2362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AI estimation, rule-based urgency, calibration and drift checks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4E1407-1C3E-6057-32B3-BD629EA272C7}"/>
              </a:ext>
            </a:extLst>
          </p:cNvPr>
          <p:cNvSpPr/>
          <p:nvPr/>
        </p:nvSpPr>
        <p:spPr>
          <a:xfrm>
            <a:off x="8610600" y="2260600"/>
            <a:ext cx="2667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82711-A80E-DD75-A8FA-9B4A6508BDFD}"/>
              </a:ext>
            </a:extLst>
          </p:cNvPr>
          <p:cNvSpPr txBox="1"/>
          <p:nvPr/>
        </p:nvSpPr>
        <p:spPr>
          <a:xfrm>
            <a:off x="8788400" y="24257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E85D57"/>
                </a:solidFill>
                <a:latin typeface="Segoe UI" panose="020B0502040204020203" pitchFamily="34" charset="0"/>
              </a:rPr>
              <a:t>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6A9B9-E313-52F7-4E16-04166D8679CA}"/>
              </a:ext>
            </a:extLst>
          </p:cNvPr>
          <p:cNvSpPr txBox="1"/>
          <p:nvPr/>
        </p:nvSpPr>
        <p:spPr>
          <a:xfrm>
            <a:off x="8763000" y="2908300"/>
            <a:ext cx="2362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Caregiver alerts, medication alarms, and emergency calling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BCCCBA-1EC7-862D-C5B7-F9E9298F421A}"/>
              </a:ext>
            </a:extLst>
          </p:cNvPr>
          <p:cNvCxnSpPr/>
          <p:nvPr/>
        </p:nvCxnSpPr>
        <p:spPr>
          <a:xfrm>
            <a:off x="3606800" y="2806700"/>
            <a:ext cx="1016000" cy="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3A2E0C-54D6-D955-AF20-4D02603626F0}"/>
              </a:ext>
            </a:extLst>
          </p:cNvPr>
          <p:cNvCxnSpPr/>
          <p:nvPr/>
        </p:nvCxnSpPr>
        <p:spPr>
          <a:xfrm>
            <a:off x="7467600" y="2806700"/>
            <a:ext cx="1016000" cy="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73D7C4-490A-32F2-0AFA-D3FB8AD49B7B}"/>
              </a:ext>
            </a:extLst>
          </p:cNvPr>
          <p:cNvSpPr txBox="1"/>
          <p:nvPr/>
        </p:nvSpPr>
        <p:spPr>
          <a:xfrm>
            <a:off x="1676400" y="4343400"/>
            <a:ext cx="889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72026"/>
                </a:solidFill>
                <a:latin typeface="Segoe UI" panose="020B0502040204020203" pitchFamily="34" charset="0"/>
              </a:rPr>
              <a:t>By the end, the committee should believe this is a working remote-monitoring system with measurable AI results, real hardware integration, and honest boundaries.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B86A9-342B-C3A2-9C10-C442BA41A7CD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F9A8A-D603-1141-C7E1-898BDC12C721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9711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6E7815-EAC0-85F1-458D-79D1AACF1213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ACA8B-E40E-2303-6BD2-3CA2831D3B66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danger is not only high blood pressure; it is delayed awareness.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AE023-96E7-237E-9970-75744639FAF0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A patient can miss the reading, misread the risk, or fail to reach help in time.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E52734-4F89-C340-C72F-185DE1DD2897}"/>
              </a:ext>
            </a:extLst>
          </p:cNvPr>
          <p:cNvSpPr/>
          <p:nvPr/>
        </p:nvSpPr>
        <p:spPr>
          <a:xfrm>
            <a:off x="736600" y="2082800"/>
            <a:ext cx="3175000" cy="281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2C71E-11AB-9146-5F04-8A17107885C4}"/>
              </a:ext>
            </a:extLst>
          </p:cNvPr>
          <p:cNvSpPr txBox="1"/>
          <p:nvPr/>
        </p:nvSpPr>
        <p:spPr>
          <a:xfrm>
            <a:off x="1041400" y="2387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F7C80"/>
                </a:solidFill>
                <a:latin typeface="Segoe UI" panose="020B0502040204020203" pitchFamily="34" charset="0"/>
              </a:rPr>
              <a:t>Patient 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3A299-7045-0D5A-67F7-06CEE3701E94}"/>
              </a:ext>
            </a:extLst>
          </p:cNvPr>
          <p:cNvSpPr txBox="1"/>
          <p:nvPr/>
        </p:nvSpPr>
        <p:spPr>
          <a:xfrm>
            <a:off x="1041400" y="2921000"/>
            <a:ext cx="24638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cuff placement and logging are easy to skip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daily routines fail under fatigue or memory loss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a critical moment still depends on the patient noticing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7C37BB-5FA4-2006-8940-74F40829EDEA}"/>
              </a:ext>
            </a:extLst>
          </p:cNvPr>
          <p:cNvSpPr/>
          <p:nvPr/>
        </p:nvSpPr>
        <p:spPr>
          <a:xfrm>
            <a:off x="4521200" y="2082800"/>
            <a:ext cx="3175000" cy="281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7A043-FF64-BDD1-57F7-4EDE7CD966A6}"/>
              </a:ext>
            </a:extLst>
          </p:cNvPr>
          <p:cNvSpPr txBox="1"/>
          <p:nvPr/>
        </p:nvSpPr>
        <p:spPr>
          <a:xfrm>
            <a:off x="4826000" y="2387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85D57"/>
                </a:solidFill>
                <a:latin typeface="Segoe UI" panose="020B0502040204020203" pitchFamily="34" charset="0"/>
              </a:rPr>
              <a:t>Caregiver side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D43AC-5B62-0654-919F-D704D91A8D7A}"/>
              </a:ext>
            </a:extLst>
          </p:cNvPr>
          <p:cNvSpPr txBox="1"/>
          <p:nvPr/>
        </p:nvSpPr>
        <p:spPr>
          <a:xfrm>
            <a:off x="4826000" y="2921000"/>
            <a:ext cx="24638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no live view unless the patient reports back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no automatic escalation when risk crosses a line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the family reacts after the fact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40B268-BCF3-E988-EEAC-B09C03C7DA21}"/>
              </a:ext>
            </a:extLst>
          </p:cNvPr>
          <p:cNvSpPr/>
          <p:nvPr/>
        </p:nvSpPr>
        <p:spPr>
          <a:xfrm>
            <a:off x="8305800" y="2082800"/>
            <a:ext cx="3175000" cy="28194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C2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C66BE7-9C4D-66BA-37BE-F95A5522EAD3}"/>
              </a:ext>
            </a:extLst>
          </p:cNvPr>
          <p:cNvSpPr txBox="1"/>
          <p:nvPr/>
        </p:nvSpPr>
        <p:spPr>
          <a:xfrm>
            <a:off x="8610600" y="2387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9C5700"/>
                </a:solidFill>
                <a:latin typeface="Segoe UI" panose="020B0502040204020203" pitchFamily="34" charset="0"/>
              </a:rPr>
              <a:t>Design target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53DF3-D5F7-AE4F-235C-5F0048105947}"/>
              </a:ext>
            </a:extLst>
          </p:cNvPr>
          <p:cNvSpPr txBox="1"/>
          <p:nvPr/>
        </p:nvSpPr>
        <p:spPr>
          <a:xfrm>
            <a:off x="8610600" y="2921000"/>
            <a:ext cx="24638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reduce measurement friction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make the risk visible immediately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- give the caregiver a direct action path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8E7A8-FB88-4EB6-E6BB-70700E2A8F3A}"/>
              </a:ext>
            </a:extLst>
          </p:cNvPr>
          <p:cNvSpPr txBox="1"/>
          <p:nvPr/>
        </p:nvSpPr>
        <p:spPr>
          <a:xfrm>
            <a:off x="2082800" y="5384800"/>
            <a:ext cx="8026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72026"/>
                </a:solidFill>
                <a:latin typeface="Segoe UI" panose="020B0502040204020203" pitchFamily="34" charset="0"/>
              </a:rPr>
              <a:t>The story of the system is a safety loop, not a feature checklist.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12C90F-CE0F-E53B-4DD8-E35C4C897DF5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DD8ED3-5A04-E254-7E9D-3DBC7D9E57B0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73997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F3CA1D-71E8-B839-34E3-2875CDADF0CA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MARKET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532FE-172D-80D1-89FA-291C8E71E186}"/>
              </a:ext>
            </a:extLst>
          </p:cNvPr>
          <p:cNvSpPr txBox="1"/>
          <p:nvPr/>
        </p:nvSpPr>
        <p:spPr>
          <a:xfrm>
            <a:off x="558800" y="6604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Existing solutions solve pieces of the loop, not the whole loop.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21DE5C-8D4B-02DF-97A6-78297B230525}"/>
              </a:ext>
            </a:extLst>
          </p:cNvPr>
          <p:cNvSpPr/>
          <p:nvPr/>
        </p:nvSpPr>
        <p:spPr>
          <a:xfrm>
            <a:off x="698500" y="1930400"/>
            <a:ext cx="2558448" cy="471714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036F7-3D54-42F8-F3A8-69FA70A75A77}"/>
              </a:ext>
            </a:extLst>
          </p:cNvPr>
          <p:cNvSpPr txBox="1"/>
          <p:nvPr/>
        </p:nvSpPr>
        <p:spPr>
          <a:xfrm>
            <a:off x="762000" y="2019300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Capability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F285F-E903-DA4C-016A-5E9AB43EF59A}"/>
              </a:ext>
            </a:extLst>
          </p:cNvPr>
          <p:cNvSpPr/>
          <p:nvPr/>
        </p:nvSpPr>
        <p:spPr>
          <a:xfrm>
            <a:off x="3256948" y="1930400"/>
            <a:ext cx="1518563" cy="471714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E37CA-1491-6159-A703-31C05403E237}"/>
              </a:ext>
            </a:extLst>
          </p:cNvPr>
          <p:cNvSpPr txBox="1"/>
          <p:nvPr/>
        </p:nvSpPr>
        <p:spPr>
          <a:xfrm>
            <a:off x="3320448" y="2019300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Cuff + 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B1564-A7C5-7C6E-227C-08C252D5469D}"/>
              </a:ext>
            </a:extLst>
          </p:cNvPr>
          <p:cNvSpPr/>
          <p:nvPr/>
        </p:nvSpPr>
        <p:spPr>
          <a:xfrm>
            <a:off x="4775511" y="1930400"/>
            <a:ext cx="1518563" cy="471714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FD881-2B80-F01D-4567-F4E6518E74B3}"/>
              </a:ext>
            </a:extLst>
          </p:cNvPr>
          <p:cNvSpPr txBox="1"/>
          <p:nvPr/>
        </p:nvSpPr>
        <p:spPr>
          <a:xfrm>
            <a:off x="4839011" y="2019300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Wearables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0D63E-8860-E95C-B0F9-897EE4CD81BE}"/>
              </a:ext>
            </a:extLst>
          </p:cNvPr>
          <p:cNvSpPr/>
          <p:nvPr/>
        </p:nvSpPr>
        <p:spPr>
          <a:xfrm>
            <a:off x="6294074" y="1930400"/>
            <a:ext cx="1980733" cy="471714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B8291A-F48C-3665-6BCA-DD3925C2FBE0}"/>
              </a:ext>
            </a:extLst>
          </p:cNvPr>
          <p:cNvSpPr txBox="1"/>
          <p:nvPr/>
        </p:nvSpPr>
        <p:spPr>
          <a:xfrm>
            <a:off x="6357574" y="2019300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Connected monitors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634B64-99C2-D3C0-72DC-5456EADF9E19}"/>
              </a:ext>
            </a:extLst>
          </p:cNvPr>
          <p:cNvSpPr/>
          <p:nvPr/>
        </p:nvSpPr>
        <p:spPr>
          <a:xfrm>
            <a:off x="8274807" y="1930400"/>
            <a:ext cx="1650612" cy="471714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53DA9E-172B-77A3-2581-FA3B68BF95F0}"/>
              </a:ext>
            </a:extLst>
          </p:cNvPr>
          <p:cNvSpPr txBox="1"/>
          <p:nvPr/>
        </p:nvSpPr>
        <p:spPr>
          <a:xfrm>
            <a:off x="8338307" y="2019300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Clinical RPM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9BEE00-F2E6-F040-3557-D2375AB9A864}"/>
              </a:ext>
            </a:extLst>
          </p:cNvPr>
          <p:cNvSpPr/>
          <p:nvPr/>
        </p:nvSpPr>
        <p:spPr>
          <a:xfrm>
            <a:off x="9925419" y="1930400"/>
            <a:ext cx="1568081" cy="471714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F0F9C-3518-E3AE-F35C-0D38897C8AC8}"/>
              </a:ext>
            </a:extLst>
          </p:cNvPr>
          <p:cNvSpPr txBox="1"/>
          <p:nvPr/>
        </p:nvSpPr>
        <p:spPr>
          <a:xfrm>
            <a:off x="9988919" y="2019300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Health Mate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4E06D-1ED8-FBC5-8C0D-3CFF89F8CC25}"/>
              </a:ext>
            </a:extLst>
          </p:cNvPr>
          <p:cNvSpPr/>
          <p:nvPr/>
        </p:nvSpPr>
        <p:spPr>
          <a:xfrm>
            <a:off x="698500" y="2402114"/>
            <a:ext cx="2558448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952BA2-B2B0-70D7-C598-8F9986CF6253}"/>
              </a:ext>
            </a:extLst>
          </p:cNvPr>
          <p:cNvSpPr txBox="1"/>
          <p:nvPr/>
        </p:nvSpPr>
        <p:spPr>
          <a:xfrm>
            <a:off x="762000" y="2491014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Cuffless AI sensing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13FA0-DF12-1AC1-EC3F-5CA2405954A7}"/>
              </a:ext>
            </a:extLst>
          </p:cNvPr>
          <p:cNvSpPr/>
          <p:nvPr/>
        </p:nvSpPr>
        <p:spPr>
          <a:xfrm>
            <a:off x="3256948" y="2402114"/>
            <a:ext cx="151856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53C402-32BB-80D2-6F28-B0D395CE52B7}"/>
              </a:ext>
            </a:extLst>
          </p:cNvPr>
          <p:cNvSpPr txBox="1"/>
          <p:nvPr/>
        </p:nvSpPr>
        <p:spPr>
          <a:xfrm>
            <a:off x="3320448" y="2491014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16BDB-DFE1-7CCA-7F60-ECAE1C638A4C}"/>
              </a:ext>
            </a:extLst>
          </p:cNvPr>
          <p:cNvSpPr/>
          <p:nvPr/>
        </p:nvSpPr>
        <p:spPr>
          <a:xfrm>
            <a:off x="4775511" y="2402114"/>
            <a:ext cx="151856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7DD6DA-47E1-B0C0-8802-B7DC55BA9A09}"/>
              </a:ext>
            </a:extLst>
          </p:cNvPr>
          <p:cNvSpPr txBox="1"/>
          <p:nvPr/>
        </p:nvSpPr>
        <p:spPr>
          <a:xfrm>
            <a:off x="4839011" y="2491014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E1F9E2-2142-3E93-13A7-2D085C4C14D3}"/>
              </a:ext>
            </a:extLst>
          </p:cNvPr>
          <p:cNvSpPr/>
          <p:nvPr/>
        </p:nvSpPr>
        <p:spPr>
          <a:xfrm>
            <a:off x="6294074" y="2402114"/>
            <a:ext cx="198073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FD7F1-F2BB-5780-D7B1-ABBA6B6CAD37}"/>
              </a:ext>
            </a:extLst>
          </p:cNvPr>
          <p:cNvSpPr txBox="1"/>
          <p:nvPr/>
        </p:nvSpPr>
        <p:spPr>
          <a:xfrm>
            <a:off x="6357574" y="2491014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D34D13-BF0E-96D3-60CB-923896888EFB}"/>
              </a:ext>
            </a:extLst>
          </p:cNvPr>
          <p:cNvSpPr/>
          <p:nvPr/>
        </p:nvSpPr>
        <p:spPr>
          <a:xfrm>
            <a:off x="8274807" y="2402114"/>
            <a:ext cx="1650612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7801D0-041F-0922-D37B-F5E06C291248}"/>
              </a:ext>
            </a:extLst>
          </p:cNvPr>
          <p:cNvSpPr txBox="1"/>
          <p:nvPr/>
        </p:nvSpPr>
        <p:spPr>
          <a:xfrm>
            <a:off x="8338307" y="2491014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51F8DC-12B9-FE72-8DAA-913286A2C074}"/>
              </a:ext>
            </a:extLst>
          </p:cNvPr>
          <p:cNvSpPr/>
          <p:nvPr/>
        </p:nvSpPr>
        <p:spPr>
          <a:xfrm>
            <a:off x="9925419" y="2402114"/>
            <a:ext cx="1568081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DD4C2F-01CB-6E26-032E-6DCE86CE7FCA}"/>
              </a:ext>
            </a:extLst>
          </p:cNvPr>
          <p:cNvSpPr txBox="1"/>
          <p:nvPr/>
        </p:nvSpPr>
        <p:spPr>
          <a:xfrm>
            <a:off x="9988919" y="2491014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F1CA1B-126E-0ECE-E69B-12E4D466A721}"/>
              </a:ext>
            </a:extLst>
          </p:cNvPr>
          <p:cNvSpPr/>
          <p:nvPr/>
        </p:nvSpPr>
        <p:spPr>
          <a:xfrm>
            <a:off x="698500" y="2873829"/>
            <a:ext cx="2558448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C7D693-33DC-6640-7618-CCEDED9CE1F5}"/>
              </a:ext>
            </a:extLst>
          </p:cNvPr>
          <p:cNvSpPr txBox="1"/>
          <p:nvPr/>
        </p:nvSpPr>
        <p:spPr>
          <a:xfrm>
            <a:off x="762000" y="2962729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Family caregiver alerts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14DD9-B5BC-2A2F-C793-1F3BF90E84E9}"/>
              </a:ext>
            </a:extLst>
          </p:cNvPr>
          <p:cNvSpPr/>
          <p:nvPr/>
        </p:nvSpPr>
        <p:spPr>
          <a:xfrm>
            <a:off x="3256948" y="2873829"/>
            <a:ext cx="1518563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107BF3-7CC6-9DE5-CDFD-1D090182BF70}"/>
              </a:ext>
            </a:extLst>
          </p:cNvPr>
          <p:cNvSpPr txBox="1"/>
          <p:nvPr/>
        </p:nvSpPr>
        <p:spPr>
          <a:xfrm>
            <a:off x="3320448" y="2962729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DEB54A-1713-AD4B-3D0B-4F657FCED23E}"/>
              </a:ext>
            </a:extLst>
          </p:cNvPr>
          <p:cNvSpPr/>
          <p:nvPr/>
        </p:nvSpPr>
        <p:spPr>
          <a:xfrm>
            <a:off x="4775511" y="2873829"/>
            <a:ext cx="1518563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5DA6C3-CAA5-F8DF-14CC-4A44B337D04F}"/>
              </a:ext>
            </a:extLst>
          </p:cNvPr>
          <p:cNvSpPr txBox="1"/>
          <p:nvPr/>
        </p:nvSpPr>
        <p:spPr>
          <a:xfrm>
            <a:off x="4839011" y="2962729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000E57-AB36-D8F5-866C-DF755D66F548}"/>
              </a:ext>
            </a:extLst>
          </p:cNvPr>
          <p:cNvSpPr/>
          <p:nvPr/>
        </p:nvSpPr>
        <p:spPr>
          <a:xfrm>
            <a:off x="6294074" y="2873829"/>
            <a:ext cx="1980733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86B901-9064-3695-5806-C915BE920778}"/>
              </a:ext>
            </a:extLst>
          </p:cNvPr>
          <p:cNvSpPr txBox="1"/>
          <p:nvPr/>
        </p:nvSpPr>
        <p:spPr>
          <a:xfrm>
            <a:off x="6357574" y="2962729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B23EBD-3D46-D561-BC3D-08E4CE5D4CB0}"/>
              </a:ext>
            </a:extLst>
          </p:cNvPr>
          <p:cNvSpPr/>
          <p:nvPr/>
        </p:nvSpPr>
        <p:spPr>
          <a:xfrm>
            <a:off x="8274807" y="2873829"/>
            <a:ext cx="1650612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245C93-1A64-99FB-BBFD-FA67F5CF5B31}"/>
              </a:ext>
            </a:extLst>
          </p:cNvPr>
          <p:cNvSpPr txBox="1"/>
          <p:nvPr/>
        </p:nvSpPr>
        <p:spPr>
          <a:xfrm>
            <a:off x="8338307" y="2962729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2EBCC-1E89-7D7A-915A-80832E65CD66}"/>
              </a:ext>
            </a:extLst>
          </p:cNvPr>
          <p:cNvSpPr/>
          <p:nvPr/>
        </p:nvSpPr>
        <p:spPr>
          <a:xfrm>
            <a:off x="9925419" y="2873829"/>
            <a:ext cx="1568081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8A1ABD-032C-F220-E222-7A6FEACC6FD6}"/>
              </a:ext>
            </a:extLst>
          </p:cNvPr>
          <p:cNvSpPr txBox="1"/>
          <p:nvPr/>
        </p:nvSpPr>
        <p:spPr>
          <a:xfrm>
            <a:off x="9988919" y="2962729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4C078C-7261-AE0E-DB88-371815677B2C}"/>
              </a:ext>
            </a:extLst>
          </p:cNvPr>
          <p:cNvSpPr/>
          <p:nvPr/>
        </p:nvSpPr>
        <p:spPr>
          <a:xfrm>
            <a:off x="698500" y="3345543"/>
            <a:ext cx="2558448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9C943F-EA53-B2A9-CCE8-B42320ADB747}"/>
              </a:ext>
            </a:extLst>
          </p:cNvPr>
          <p:cNvSpPr txBox="1"/>
          <p:nvPr/>
        </p:nvSpPr>
        <p:spPr>
          <a:xfrm>
            <a:off x="762000" y="3434443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Symptom + red-flag triage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ECE924-77E5-6232-7CE7-7EA194F107C7}"/>
              </a:ext>
            </a:extLst>
          </p:cNvPr>
          <p:cNvSpPr/>
          <p:nvPr/>
        </p:nvSpPr>
        <p:spPr>
          <a:xfrm>
            <a:off x="3256948" y="3345543"/>
            <a:ext cx="151856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7F3BCC-5232-0C32-639A-F8CBA461A61A}"/>
              </a:ext>
            </a:extLst>
          </p:cNvPr>
          <p:cNvSpPr txBox="1"/>
          <p:nvPr/>
        </p:nvSpPr>
        <p:spPr>
          <a:xfrm>
            <a:off x="3320448" y="3434443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FA2136-8735-915F-2A2C-864237CA1E19}"/>
              </a:ext>
            </a:extLst>
          </p:cNvPr>
          <p:cNvSpPr/>
          <p:nvPr/>
        </p:nvSpPr>
        <p:spPr>
          <a:xfrm>
            <a:off x="4775511" y="3345543"/>
            <a:ext cx="151856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6BB08B-75FA-4CEB-3963-FA0C6163C98F}"/>
              </a:ext>
            </a:extLst>
          </p:cNvPr>
          <p:cNvSpPr txBox="1"/>
          <p:nvPr/>
        </p:nvSpPr>
        <p:spPr>
          <a:xfrm>
            <a:off x="4839011" y="3434443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575FD8-1DA4-7066-4372-F10C4D1A05B0}"/>
              </a:ext>
            </a:extLst>
          </p:cNvPr>
          <p:cNvSpPr/>
          <p:nvPr/>
        </p:nvSpPr>
        <p:spPr>
          <a:xfrm>
            <a:off x="6294074" y="3345543"/>
            <a:ext cx="198073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0D8650-6BBA-C170-4327-3DA9CFAB55DA}"/>
              </a:ext>
            </a:extLst>
          </p:cNvPr>
          <p:cNvSpPr txBox="1"/>
          <p:nvPr/>
        </p:nvSpPr>
        <p:spPr>
          <a:xfrm>
            <a:off x="6357574" y="3434443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E40993D-0B00-443F-400E-3D267BE9F015}"/>
              </a:ext>
            </a:extLst>
          </p:cNvPr>
          <p:cNvSpPr/>
          <p:nvPr/>
        </p:nvSpPr>
        <p:spPr>
          <a:xfrm>
            <a:off x="8274807" y="3345543"/>
            <a:ext cx="1650612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04FF60-E132-F5D5-12FB-343B534CE3A6}"/>
              </a:ext>
            </a:extLst>
          </p:cNvPr>
          <p:cNvSpPr txBox="1"/>
          <p:nvPr/>
        </p:nvSpPr>
        <p:spPr>
          <a:xfrm>
            <a:off x="8338307" y="3434443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D5AB3C9-FA7C-630E-1B38-92BF8950AA94}"/>
              </a:ext>
            </a:extLst>
          </p:cNvPr>
          <p:cNvSpPr/>
          <p:nvPr/>
        </p:nvSpPr>
        <p:spPr>
          <a:xfrm>
            <a:off x="9925419" y="3345543"/>
            <a:ext cx="1568081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441F67-A869-61BC-CC7A-12F23651E176}"/>
              </a:ext>
            </a:extLst>
          </p:cNvPr>
          <p:cNvSpPr txBox="1"/>
          <p:nvPr/>
        </p:nvSpPr>
        <p:spPr>
          <a:xfrm>
            <a:off x="9988919" y="3434443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F3E326-0457-B6A9-E09A-58DBA4F2F5D3}"/>
              </a:ext>
            </a:extLst>
          </p:cNvPr>
          <p:cNvSpPr/>
          <p:nvPr/>
        </p:nvSpPr>
        <p:spPr>
          <a:xfrm>
            <a:off x="698500" y="3817257"/>
            <a:ext cx="2558448" cy="471715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117CA7-A51B-35C8-2B8A-F912B3841DFC}"/>
              </a:ext>
            </a:extLst>
          </p:cNvPr>
          <p:cNvSpPr txBox="1"/>
          <p:nvPr/>
        </p:nvSpPr>
        <p:spPr>
          <a:xfrm>
            <a:off x="762000" y="3906157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Smart medication hardware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992436B-5912-2A26-FEBF-D476B01CEF41}"/>
              </a:ext>
            </a:extLst>
          </p:cNvPr>
          <p:cNvSpPr/>
          <p:nvPr/>
        </p:nvSpPr>
        <p:spPr>
          <a:xfrm>
            <a:off x="3256948" y="3817257"/>
            <a:ext cx="1518563" cy="471715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2DC5A8-58B5-8DF1-DA30-3504EA4D487D}"/>
              </a:ext>
            </a:extLst>
          </p:cNvPr>
          <p:cNvSpPr txBox="1"/>
          <p:nvPr/>
        </p:nvSpPr>
        <p:spPr>
          <a:xfrm>
            <a:off x="3320448" y="3906157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E8879C4-162B-722C-4F10-524563E3B2BF}"/>
              </a:ext>
            </a:extLst>
          </p:cNvPr>
          <p:cNvSpPr/>
          <p:nvPr/>
        </p:nvSpPr>
        <p:spPr>
          <a:xfrm>
            <a:off x="4775511" y="3817257"/>
            <a:ext cx="1518563" cy="471715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3F83BF-E4E8-E4D9-FA0A-73EC488A98BC}"/>
              </a:ext>
            </a:extLst>
          </p:cNvPr>
          <p:cNvSpPr txBox="1"/>
          <p:nvPr/>
        </p:nvSpPr>
        <p:spPr>
          <a:xfrm>
            <a:off x="4839011" y="3906157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25F4B29-263D-6FBE-DA85-F6FB5385BC6E}"/>
              </a:ext>
            </a:extLst>
          </p:cNvPr>
          <p:cNvSpPr/>
          <p:nvPr/>
        </p:nvSpPr>
        <p:spPr>
          <a:xfrm>
            <a:off x="6294074" y="3817257"/>
            <a:ext cx="1980733" cy="471715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ACA13D-FEAC-B097-0D47-904ECFCBCEDA}"/>
              </a:ext>
            </a:extLst>
          </p:cNvPr>
          <p:cNvSpPr txBox="1"/>
          <p:nvPr/>
        </p:nvSpPr>
        <p:spPr>
          <a:xfrm>
            <a:off x="6357574" y="3906157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18F9199-9DB5-177C-4848-EFAE2D1F275F}"/>
              </a:ext>
            </a:extLst>
          </p:cNvPr>
          <p:cNvSpPr/>
          <p:nvPr/>
        </p:nvSpPr>
        <p:spPr>
          <a:xfrm>
            <a:off x="8274807" y="3817257"/>
            <a:ext cx="1650612" cy="471715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338D7A-88E1-50AE-8D2C-8E458A9B336B}"/>
              </a:ext>
            </a:extLst>
          </p:cNvPr>
          <p:cNvSpPr txBox="1"/>
          <p:nvPr/>
        </p:nvSpPr>
        <p:spPr>
          <a:xfrm>
            <a:off x="8338307" y="3906157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B5A11C8-03F1-7962-6468-62B95AC025DE}"/>
              </a:ext>
            </a:extLst>
          </p:cNvPr>
          <p:cNvSpPr/>
          <p:nvPr/>
        </p:nvSpPr>
        <p:spPr>
          <a:xfrm>
            <a:off x="9925419" y="3817257"/>
            <a:ext cx="1568081" cy="471715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05E9DC-FC2C-123A-F2E6-7122BE7AA012}"/>
              </a:ext>
            </a:extLst>
          </p:cNvPr>
          <p:cNvSpPr txBox="1"/>
          <p:nvPr/>
        </p:nvSpPr>
        <p:spPr>
          <a:xfrm>
            <a:off x="9988919" y="3906157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D13A0E-1C13-20F1-3955-69DB80469A97}"/>
              </a:ext>
            </a:extLst>
          </p:cNvPr>
          <p:cNvSpPr/>
          <p:nvPr/>
        </p:nvSpPr>
        <p:spPr>
          <a:xfrm>
            <a:off x="698500" y="4288972"/>
            <a:ext cx="2558448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1BEAF2-39AF-2F09-0A04-D22216E2149A}"/>
              </a:ext>
            </a:extLst>
          </p:cNvPr>
          <p:cNvSpPr txBox="1"/>
          <p:nvPr/>
        </p:nvSpPr>
        <p:spPr>
          <a:xfrm>
            <a:off x="762000" y="4377872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Emergency call path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12B0622-D2E7-1236-23D5-8B86B7FE2606}"/>
              </a:ext>
            </a:extLst>
          </p:cNvPr>
          <p:cNvSpPr/>
          <p:nvPr/>
        </p:nvSpPr>
        <p:spPr>
          <a:xfrm>
            <a:off x="3256948" y="4288972"/>
            <a:ext cx="151856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4FFCEA-1DF1-8DA1-2F23-906BD446FAC1}"/>
              </a:ext>
            </a:extLst>
          </p:cNvPr>
          <p:cNvSpPr txBox="1"/>
          <p:nvPr/>
        </p:nvSpPr>
        <p:spPr>
          <a:xfrm>
            <a:off x="3320448" y="4377872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7AE43A-7131-34BA-D125-E048A033B345}"/>
              </a:ext>
            </a:extLst>
          </p:cNvPr>
          <p:cNvSpPr/>
          <p:nvPr/>
        </p:nvSpPr>
        <p:spPr>
          <a:xfrm>
            <a:off x="4775511" y="4288972"/>
            <a:ext cx="151856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1BD23A-2D2C-62BE-0E88-EEFE28A6C6C6}"/>
              </a:ext>
            </a:extLst>
          </p:cNvPr>
          <p:cNvSpPr txBox="1"/>
          <p:nvPr/>
        </p:nvSpPr>
        <p:spPr>
          <a:xfrm>
            <a:off x="4839011" y="4377872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A1BB2F1-B2E6-A443-AF41-735C87A10FF9}"/>
              </a:ext>
            </a:extLst>
          </p:cNvPr>
          <p:cNvSpPr/>
          <p:nvPr/>
        </p:nvSpPr>
        <p:spPr>
          <a:xfrm>
            <a:off x="6294074" y="4288972"/>
            <a:ext cx="1980733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D24679-55E7-89C8-49A3-5DAD7B03B42A}"/>
              </a:ext>
            </a:extLst>
          </p:cNvPr>
          <p:cNvSpPr txBox="1"/>
          <p:nvPr/>
        </p:nvSpPr>
        <p:spPr>
          <a:xfrm>
            <a:off x="6357574" y="4377872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8879D1A-EB0D-7FDF-F2D1-A286DDFADD77}"/>
              </a:ext>
            </a:extLst>
          </p:cNvPr>
          <p:cNvSpPr/>
          <p:nvPr/>
        </p:nvSpPr>
        <p:spPr>
          <a:xfrm>
            <a:off x="8274807" y="4288972"/>
            <a:ext cx="1650612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0D9C31-5127-D344-0516-D5E7EC856750}"/>
              </a:ext>
            </a:extLst>
          </p:cNvPr>
          <p:cNvSpPr txBox="1"/>
          <p:nvPr/>
        </p:nvSpPr>
        <p:spPr>
          <a:xfrm>
            <a:off x="8338307" y="4377872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0AEB21E-9EFE-9927-1E20-B07C8AF249C4}"/>
              </a:ext>
            </a:extLst>
          </p:cNvPr>
          <p:cNvSpPr/>
          <p:nvPr/>
        </p:nvSpPr>
        <p:spPr>
          <a:xfrm>
            <a:off x="9925419" y="4288972"/>
            <a:ext cx="1568081" cy="47171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AE3EFB-3378-449C-610A-DBCA3F66476A}"/>
              </a:ext>
            </a:extLst>
          </p:cNvPr>
          <p:cNvSpPr txBox="1"/>
          <p:nvPr/>
        </p:nvSpPr>
        <p:spPr>
          <a:xfrm>
            <a:off x="9988919" y="4377872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E626805-A1FF-C47F-685A-F6B843636FFF}"/>
              </a:ext>
            </a:extLst>
          </p:cNvPr>
          <p:cNvSpPr/>
          <p:nvPr/>
        </p:nvSpPr>
        <p:spPr>
          <a:xfrm>
            <a:off x="698500" y="4760686"/>
            <a:ext cx="2558448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A8AEBA-2DF9-E475-ADEF-E5729F989DCB}"/>
              </a:ext>
            </a:extLst>
          </p:cNvPr>
          <p:cNvSpPr txBox="1"/>
          <p:nvPr/>
        </p:nvSpPr>
        <p:spPr>
          <a:xfrm>
            <a:off x="762000" y="4849586"/>
            <a:ext cx="24314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Arabic + English parity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4791AE5-E6CE-6694-3B3B-95397BB8A695}"/>
              </a:ext>
            </a:extLst>
          </p:cNvPr>
          <p:cNvSpPr/>
          <p:nvPr/>
        </p:nvSpPr>
        <p:spPr>
          <a:xfrm>
            <a:off x="3256948" y="4760686"/>
            <a:ext cx="1518563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44691D-7197-5E39-E0F5-1DBDE836A608}"/>
              </a:ext>
            </a:extLst>
          </p:cNvPr>
          <p:cNvSpPr txBox="1"/>
          <p:nvPr/>
        </p:nvSpPr>
        <p:spPr>
          <a:xfrm>
            <a:off x="3320448" y="4849586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79C252F-2EA6-7AF3-FC52-291DB865BC7A}"/>
              </a:ext>
            </a:extLst>
          </p:cNvPr>
          <p:cNvSpPr/>
          <p:nvPr/>
        </p:nvSpPr>
        <p:spPr>
          <a:xfrm>
            <a:off x="4775511" y="4760686"/>
            <a:ext cx="1518563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09A686-3487-2014-E1E4-2D448E219A4D}"/>
              </a:ext>
            </a:extLst>
          </p:cNvPr>
          <p:cNvSpPr txBox="1"/>
          <p:nvPr/>
        </p:nvSpPr>
        <p:spPr>
          <a:xfrm>
            <a:off x="4839011" y="4849586"/>
            <a:ext cx="1391563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04DA8FA-1FA2-F538-A51D-1CAF8CB37353}"/>
              </a:ext>
            </a:extLst>
          </p:cNvPr>
          <p:cNvSpPr/>
          <p:nvPr/>
        </p:nvSpPr>
        <p:spPr>
          <a:xfrm>
            <a:off x="6294074" y="4760686"/>
            <a:ext cx="1980733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EF9B5E-B629-668D-3A21-D6C66E4E71B8}"/>
              </a:ext>
            </a:extLst>
          </p:cNvPr>
          <p:cNvSpPr txBox="1"/>
          <p:nvPr/>
        </p:nvSpPr>
        <p:spPr>
          <a:xfrm>
            <a:off x="6357574" y="4849586"/>
            <a:ext cx="1853734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0923252-C0E4-2923-58C7-58F3343FBF8A}"/>
              </a:ext>
            </a:extLst>
          </p:cNvPr>
          <p:cNvSpPr/>
          <p:nvPr/>
        </p:nvSpPr>
        <p:spPr>
          <a:xfrm>
            <a:off x="8274807" y="4760686"/>
            <a:ext cx="1650612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7847E6-1837-A6D9-0922-D9EB52DA950F}"/>
              </a:ext>
            </a:extLst>
          </p:cNvPr>
          <p:cNvSpPr txBox="1"/>
          <p:nvPr/>
        </p:nvSpPr>
        <p:spPr>
          <a:xfrm>
            <a:off x="8338307" y="4849586"/>
            <a:ext cx="15236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Partial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B96AB9A-0264-7A30-E10E-E95BD6A338C8}"/>
              </a:ext>
            </a:extLst>
          </p:cNvPr>
          <p:cNvSpPr/>
          <p:nvPr/>
        </p:nvSpPr>
        <p:spPr>
          <a:xfrm>
            <a:off x="9925419" y="4760686"/>
            <a:ext cx="1568081" cy="47171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4BBB5E-29D4-75BD-4729-BF8E686BFB0E}"/>
              </a:ext>
            </a:extLst>
          </p:cNvPr>
          <p:cNvSpPr txBox="1"/>
          <p:nvPr/>
        </p:nvSpPr>
        <p:spPr>
          <a:xfrm>
            <a:off x="9988919" y="4849586"/>
            <a:ext cx="144108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6E3B228-DF16-D95A-843D-0627C726682E}"/>
              </a:ext>
            </a:extLst>
          </p:cNvPr>
          <p:cNvSpPr txBox="1"/>
          <p:nvPr/>
        </p:nvSpPr>
        <p:spPr>
          <a:xfrm>
            <a:off x="1193800" y="5588000"/>
            <a:ext cx="977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5C6B73"/>
                </a:solidFill>
                <a:latin typeface="Segoe UI" panose="020B0502040204020203" pitchFamily="34" charset="0"/>
              </a:rPr>
              <a:t>Positioning: Health Mate is a research prototype, not a cleared medical device. Its strength is integration depth and transparent evaluation.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CABD78E-B524-9352-B6CB-2B254611A3DB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BFCC635-5183-4079-E88F-6A79774C8A7C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29112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5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4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75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45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8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15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85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12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55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19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25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26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295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33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365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435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470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505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54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575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61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645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680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715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750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785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820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855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890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925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96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995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2030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0650"/>
                            </p:stCondLst>
                            <p:childTnLst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000"/>
                            </p:stCondLst>
                            <p:childTnLst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2135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21700"/>
                            </p:stCondLst>
                            <p:childTnLst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205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2400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750"/>
                            </p:stCondLst>
                            <p:childTnLst>
                              <p:par>
                                <p:cTn id="2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3100"/>
                            </p:stCondLst>
                            <p:childTnLst>
                              <p:par>
                                <p:cTn id="2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23450"/>
                            </p:stCondLst>
                            <p:childTnLst>
                              <p:par>
                                <p:cTn id="2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380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24150"/>
                            </p:stCondLst>
                            <p:childTnLst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4500"/>
                            </p:stCondLst>
                            <p:childTnLst>
                              <p:par>
                                <p:cTn id="2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4850"/>
                            </p:stCondLst>
                            <p:childTnLst>
                              <p:par>
                                <p:cTn id="2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5200"/>
                            </p:stCondLst>
                            <p:childTnLst>
                              <p:par>
                                <p:cTn id="2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5550"/>
                            </p:stCondLst>
                            <p:childTnLst>
                              <p:par>
                                <p:cTn id="3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5900"/>
                            </p:stCondLst>
                            <p:childTnLst>
                              <p:par>
                                <p:cTn id="3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6250"/>
                            </p:stCondLst>
                            <p:childTnLst>
                              <p:par>
                                <p:cTn id="3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6600"/>
                            </p:stCondLst>
                            <p:childTnLst>
                              <p:par>
                                <p:cTn id="3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26950"/>
                            </p:stCondLst>
                            <p:childTnLst>
                              <p:par>
                                <p:cTn id="3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7300"/>
                            </p:stCondLst>
                            <p:childTnLst>
                              <p:par>
                                <p:cTn id="3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27650"/>
                            </p:stCondLst>
                            <p:childTnLst>
                              <p:par>
                                <p:cTn id="3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8000"/>
                            </p:stCondLst>
                            <p:childTnLst>
                              <p:par>
                                <p:cTn id="3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8350"/>
                            </p:stCondLst>
                            <p:childTnLst>
                              <p:par>
                                <p:cTn id="3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28700"/>
                            </p:stCondLst>
                            <p:childTnLst>
                              <p:par>
                                <p:cTn id="3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29050"/>
                            </p:stCondLst>
                            <p:childTnLst>
                              <p:par>
                                <p:cTn id="3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9400"/>
                            </p:stCondLst>
                            <p:childTnLst>
                              <p:par>
                                <p:cTn id="3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9750"/>
                            </p:stCondLst>
                            <p:childTnLst>
                              <p:par>
                                <p:cTn id="3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30100"/>
                            </p:stCondLst>
                            <p:childTnLst>
                              <p:par>
                                <p:cTn id="3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6" grpId="0" animBg="1"/>
      <p:bldP spid="77" grpId="0"/>
      <p:bldP spid="78" grpId="0" animBg="1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/>
      <p:bldP spid="89" grpId="0"/>
      <p:bldP spid="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30C63-1A55-0082-6781-273553CA3EE3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FC24D-09FF-6004-02F7-1FB9CB613D50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Health Mate is built as one closed safety loop.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6B27F-1DE8-EE27-C071-D7E81D3C0A97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The hardware collects; the backend decides; the app turns decisions into action.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8D81A1-A9A0-6664-F347-B7C81B22057C}"/>
              </a:ext>
            </a:extLst>
          </p:cNvPr>
          <p:cNvSpPr/>
          <p:nvPr/>
        </p:nvSpPr>
        <p:spPr>
          <a:xfrm>
            <a:off x="1270000" y="2133600"/>
            <a:ext cx="26670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5FE04-D3E6-CEBB-3D29-A85C05CDDCB3}"/>
              </a:ext>
            </a:extLst>
          </p:cNvPr>
          <p:cNvSpPr txBox="1"/>
          <p:nvPr/>
        </p:nvSpPr>
        <p:spPr>
          <a:xfrm>
            <a:off x="1422400" y="2324100"/>
            <a:ext cx="236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F7C80"/>
                </a:solidFill>
                <a:latin typeface="Segoe UI" panose="020B0502040204020203" pitchFamily="34" charset="0"/>
              </a:rPr>
              <a:t>BP sensing unit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1BF96-BB26-5B10-04C9-3C90D70B1923}"/>
              </a:ext>
            </a:extLst>
          </p:cNvPr>
          <p:cNvSpPr txBox="1"/>
          <p:nvPr/>
        </p:nvSpPr>
        <p:spPr>
          <a:xfrm>
            <a:off x="1422400" y="2667000"/>
            <a:ext cx="236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ESP8266 + MAX30102 + AD8232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F952B5-20E1-46C2-38E5-4C6697449738}"/>
              </a:ext>
            </a:extLst>
          </p:cNvPr>
          <p:cNvSpPr/>
          <p:nvPr/>
        </p:nvSpPr>
        <p:spPr>
          <a:xfrm>
            <a:off x="4762500" y="1397000"/>
            <a:ext cx="26670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68DEA-0A1D-126A-606C-CAA964622FC2}"/>
              </a:ext>
            </a:extLst>
          </p:cNvPr>
          <p:cNvSpPr txBox="1"/>
          <p:nvPr/>
        </p:nvSpPr>
        <p:spPr>
          <a:xfrm>
            <a:off x="4914900" y="1587500"/>
            <a:ext cx="236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02A43"/>
                </a:solidFill>
                <a:latin typeface="Segoe UI" panose="020B0502040204020203" pitchFamily="34" charset="0"/>
              </a:rPr>
              <a:t>FastAPI backend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10442C-D7DC-4294-6B82-8206001AA7FB}"/>
              </a:ext>
            </a:extLst>
          </p:cNvPr>
          <p:cNvSpPr txBox="1"/>
          <p:nvPr/>
        </p:nvSpPr>
        <p:spPr>
          <a:xfrm>
            <a:off x="4914900" y="1930400"/>
            <a:ext cx="236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validation, inference, calibration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77FE0C-6BDF-E15F-98F4-3D32CB7112A8}"/>
              </a:ext>
            </a:extLst>
          </p:cNvPr>
          <p:cNvSpPr/>
          <p:nvPr/>
        </p:nvSpPr>
        <p:spPr>
          <a:xfrm>
            <a:off x="8280400" y="2133600"/>
            <a:ext cx="26670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8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DD929-F170-91EC-7AF0-1A091A73CB10}"/>
              </a:ext>
            </a:extLst>
          </p:cNvPr>
          <p:cNvSpPr txBox="1"/>
          <p:nvPr/>
        </p:nvSpPr>
        <p:spPr>
          <a:xfrm>
            <a:off x="8432800" y="2324100"/>
            <a:ext cx="236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3A86B7"/>
                </a:solidFill>
                <a:latin typeface="Segoe UI" panose="020B0502040204020203" pitchFamily="34" charset="0"/>
              </a:rPr>
              <a:t>AI + rule engine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1A472-8E50-F9A2-4621-D3136DA4C7B1}"/>
              </a:ext>
            </a:extLst>
          </p:cNvPr>
          <p:cNvSpPr txBox="1"/>
          <p:nvPr/>
        </p:nvSpPr>
        <p:spPr>
          <a:xfrm>
            <a:off x="8432800" y="2667000"/>
            <a:ext cx="236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BP model + symptom triage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47DB15-FCF1-DA3F-638E-BED6691ED56B}"/>
              </a:ext>
            </a:extLst>
          </p:cNvPr>
          <p:cNvSpPr/>
          <p:nvPr/>
        </p:nvSpPr>
        <p:spPr>
          <a:xfrm>
            <a:off x="6959600" y="4445000"/>
            <a:ext cx="26670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EE42D-7A28-23ED-22F8-52088D347037}"/>
              </a:ext>
            </a:extLst>
          </p:cNvPr>
          <p:cNvSpPr txBox="1"/>
          <p:nvPr/>
        </p:nvSpPr>
        <p:spPr>
          <a:xfrm>
            <a:off x="7112000" y="4635500"/>
            <a:ext cx="236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2E8B57"/>
                </a:solidFill>
                <a:latin typeface="Segoe UI" panose="020B0502040204020203" pitchFamily="34" charset="0"/>
              </a:rPr>
              <a:t>Flutter 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D4E6A-FFD2-D178-64B4-09A3D6068405}"/>
              </a:ext>
            </a:extLst>
          </p:cNvPr>
          <p:cNvSpPr txBox="1"/>
          <p:nvPr/>
        </p:nvSpPr>
        <p:spPr>
          <a:xfrm>
            <a:off x="7112000" y="4978400"/>
            <a:ext cx="236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patient and caregiver views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BFCA02-BDA1-28CC-7E92-D41AAEE516A9}"/>
              </a:ext>
            </a:extLst>
          </p:cNvPr>
          <p:cNvSpPr/>
          <p:nvPr/>
        </p:nvSpPr>
        <p:spPr>
          <a:xfrm>
            <a:off x="2667000" y="4445000"/>
            <a:ext cx="26670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1E3D97-754D-6098-C79D-B4DB13D5BA40}"/>
              </a:ext>
            </a:extLst>
          </p:cNvPr>
          <p:cNvSpPr txBox="1"/>
          <p:nvPr/>
        </p:nvSpPr>
        <p:spPr>
          <a:xfrm>
            <a:off x="2819400" y="4635500"/>
            <a:ext cx="236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E85D57"/>
                </a:solidFill>
                <a:latin typeface="Segoe UI" panose="020B0502040204020203" pitchFamily="34" charset="0"/>
              </a:rPr>
              <a:t>Smart box + calls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0A28FE-37F6-7594-9E49-ED324CB5ECAE}"/>
              </a:ext>
            </a:extLst>
          </p:cNvPr>
          <p:cNvSpPr txBox="1"/>
          <p:nvPr/>
        </p:nvSpPr>
        <p:spPr>
          <a:xfrm>
            <a:off x="2819400" y="4978400"/>
            <a:ext cx="236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medication cues and escalation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FBA590-57F6-23CB-B034-3E62B1B0D56C}"/>
              </a:ext>
            </a:extLst>
          </p:cNvPr>
          <p:cNvCxnSpPr/>
          <p:nvPr/>
        </p:nvCxnSpPr>
        <p:spPr>
          <a:xfrm flipV="1">
            <a:off x="3937000" y="2057400"/>
            <a:ext cx="812800" cy="45720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231277-0A79-2CFE-F7C9-9F8947F874D6}"/>
              </a:ext>
            </a:extLst>
          </p:cNvPr>
          <p:cNvCxnSpPr/>
          <p:nvPr/>
        </p:nvCxnSpPr>
        <p:spPr>
          <a:xfrm>
            <a:off x="7442200" y="2057400"/>
            <a:ext cx="838200" cy="45720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BEB4A0-E5D0-4661-C15D-B797BF6CE466}"/>
              </a:ext>
            </a:extLst>
          </p:cNvPr>
          <p:cNvCxnSpPr/>
          <p:nvPr/>
        </p:nvCxnSpPr>
        <p:spPr>
          <a:xfrm flipH="1">
            <a:off x="8331200" y="3124200"/>
            <a:ext cx="1130300" cy="132080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700A36-8D66-649F-2894-7E32BBB97309}"/>
              </a:ext>
            </a:extLst>
          </p:cNvPr>
          <p:cNvCxnSpPr/>
          <p:nvPr/>
        </p:nvCxnSpPr>
        <p:spPr>
          <a:xfrm flipH="1">
            <a:off x="5334000" y="4940300"/>
            <a:ext cx="1625600" cy="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75C0C0-68BE-3182-4FC5-758022370733}"/>
              </a:ext>
            </a:extLst>
          </p:cNvPr>
          <p:cNvCxnSpPr/>
          <p:nvPr/>
        </p:nvCxnSpPr>
        <p:spPr>
          <a:xfrm flipH="1" flipV="1">
            <a:off x="2006600" y="3124200"/>
            <a:ext cx="660400" cy="132080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4D0727-D033-0555-9424-1411544B8E75}"/>
              </a:ext>
            </a:extLst>
          </p:cNvPr>
          <p:cNvSpPr txBox="1"/>
          <p:nvPr/>
        </p:nvSpPr>
        <p:spPr>
          <a:xfrm>
            <a:off x="3200400" y="3530600"/>
            <a:ext cx="57912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72026"/>
                </a:solidFill>
                <a:latin typeface="Segoe UI" panose="020B0502040204020203" pitchFamily="34" charset="0"/>
              </a:rPr>
              <a:t>Core architectural rule: devices never make clinical decisions.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6AA230-38BC-F404-C191-C895D240A374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1D444D-6593-A8E8-B093-7746DE0663B3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27051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5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E0ABA2-F2BB-1270-53D9-E42EE1F43856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A77404-E156-09C9-A8F2-DA907DD6AA43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Backend decisions make safety traceable.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19791-EDB5-DF60-E2F0-753EB597E365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That choice makes safety logic traceable and testable.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3A1BDE-EB3C-EA9E-EFB9-981A69E6C149}"/>
              </a:ext>
            </a:extLst>
          </p:cNvPr>
          <p:cNvSpPr/>
          <p:nvPr/>
        </p:nvSpPr>
        <p:spPr>
          <a:xfrm>
            <a:off x="914400" y="1955800"/>
            <a:ext cx="103632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96B9F-8202-E0CA-2C1D-5EDF3324F072}"/>
              </a:ext>
            </a:extLst>
          </p:cNvPr>
          <p:cNvSpPr txBox="1"/>
          <p:nvPr/>
        </p:nvSpPr>
        <p:spPr>
          <a:xfrm>
            <a:off x="1270000" y="21336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F7C80"/>
                </a:solidFill>
                <a:latin typeface="Segoe UI" panose="020B0502040204020203" pitchFamily="34" charset="0"/>
              </a:rPr>
              <a:t>IoT hardware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61427-4605-CDBA-B38B-68A2E04F5423}"/>
              </a:ext>
            </a:extLst>
          </p:cNvPr>
          <p:cNvSpPr txBox="1"/>
          <p:nvPr/>
        </p:nvSpPr>
        <p:spPr>
          <a:xfrm>
            <a:off x="3632200" y="2159000"/>
            <a:ext cx="723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BP unit captures 800 samples; smart box indicates drawers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40B77A-FEA9-7A95-FE41-365171F0F00B}"/>
              </a:ext>
            </a:extLst>
          </p:cNvPr>
          <p:cNvSpPr/>
          <p:nvPr/>
        </p:nvSpPr>
        <p:spPr>
          <a:xfrm>
            <a:off x="914400" y="2946400"/>
            <a:ext cx="103632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DE341-0B47-0A17-2054-291F36A53859}"/>
              </a:ext>
            </a:extLst>
          </p:cNvPr>
          <p:cNvSpPr txBox="1"/>
          <p:nvPr/>
        </p:nvSpPr>
        <p:spPr>
          <a:xfrm>
            <a:off x="1270000" y="31242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02A43"/>
                </a:solidFill>
                <a:latin typeface="Segoe UI" panose="020B0502040204020203" pitchFamily="34" charset="0"/>
              </a:rPr>
              <a:t>Backend API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88C02-B4E9-55F1-CF3E-A4774B5BB5D8}"/>
              </a:ext>
            </a:extLst>
          </p:cNvPr>
          <p:cNvSpPr txBox="1"/>
          <p:nvPr/>
        </p:nvSpPr>
        <p:spPr>
          <a:xfrm>
            <a:off x="3632200" y="3149600"/>
            <a:ext cx="723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FastAPI, Socket.IO, APScheduler, model services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6F2729-3120-F9DF-249C-A9AD655C1BDB}"/>
              </a:ext>
            </a:extLst>
          </p:cNvPr>
          <p:cNvSpPr/>
          <p:nvPr/>
        </p:nvSpPr>
        <p:spPr>
          <a:xfrm>
            <a:off x="914400" y="3937000"/>
            <a:ext cx="103632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8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D4757-9394-36A8-D7D9-E93705A45EA2}"/>
              </a:ext>
            </a:extLst>
          </p:cNvPr>
          <p:cNvSpPr txBox="1"/>
          <p:nvPr/>
        </p:nvSpPr>
        <p:spPr>
          <a:xfrm>
            <a:off x="1270000" y="41148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A86B7"/>
                </a:solidFill>
                <a:latin typeface="Segoe UI" panose="020B0502040204020203" pitchFamily="34" charset="0"/>
              </a:rPr>
              <a:t>Data and infra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5129D7-E58D-E319-FA12-0AC4DC09B342}"/>
              </a:ext>
            </a:extLst>
          </p:cNvPr>
          <p:cNvSpPr txBox="1"/>
          <p:nvPr/>
        </p:nvSpPr>
        <p:spPr>
          <a:xfrm>
            <a:off x="3632200" y="4140200"/>
            <a:ext cx="723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PostgreSQL, Redis, Cloudinary, Firebase Messaging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68887C-7034-D7A5-F983-CA82D6E92D9F}"/>
              </a:ext>
            </a:extLst>
          </p:cNvPr>
          <p:cNvSpPr/>
          <p:nvPr/>
        </p:nvSpPr>
        <p:spPr>
          <a:xfrm>
            <a:off x="914400" y="4927600"/>
            <a:ext cx="103632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95E7BF-C78F-3DD2-8E70-D47D03881095}"/>
              </a:ext>
            </a:extLst>
          </p:cNvPr>
          <p:cNvSpPr txBox="1"/>
          <p:nvPr/>
        </p:nvSpPr>
        <p:spPr>
          <a:xfrm>
            <a:off x="1270000" y="51054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E8B57"/>
                </a:solidFill>
                <a:latin typeface="Segoe UI" panose="020B0502040204020203" pitchFamily="34" charset="0"/>
              </a:rPr>
              <a:t>Mobile 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2A4938-EE6A-C6B7-793F-FE6F88E97FD4}"/>
              </a:ext>
            </a:extLst>
          </p:cNvPr>
          <p:cNvSpPr txBox="1"/>
          <p:nvPr/>
        </p:nvSpPr>
        <p:spPr>
          <a:xfrm>
            <a:off x="3632200" y="5130800"/>
            <a:ext cx="723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026"/>
                </a:solidFill>
                <a:latin typeface="Segoe UI" panose="020B0502040204020203" pitchFamily="34" charset="0"/>
              </a:rPr>
              <a:t>Flutter, Riverpod, Dio, Hive, secure storage, localization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A6C69-0C37-BCB0-48C6-C64CD54DC4D3}"/>
              </a:ext>
            </a:extLst>
          </p:cNvPr>
          <p:cNvSpPr txBox="1"/>
          <p:nvPr/>
        </p:nvSpPr>
        <p:spPr>
          <a:xfrm>
            <a:off x="1371600" y="5943600"/>
            <a:ext cx="944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50">
                <a:solidFill>
                  <a:srgbClr val="5C6B73"/>
                </a:solidFill>
                <a:latin typeface="Segoe UI" panose="020B0502040204020203" pitchFamily="34" charset="0"/>
              </a:rPr>
              <a:t>Two architectural styles coexist: service layer for most features; clean/hexagonal architecture for symptom checker v2.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B9944-0DF1-9467-9183-C4C90262F4AB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9EC579-6103-CDD6-1784-7270D3294EA3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3413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FE4584-32E7-9724-CB6E-4A4DE3C7DA2B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C0CC2-25A7-4BC0-A505-4357A4E7DAFE}"/>
              </a:ext>
            </a:extLst>
          </p:cNvPr>
          <p:cNvSpPr txBox="1"/>
          <p:nvPr/>
        </p:nvSpPr>
        <p:spPr>
          <a:xfrm>
            <a:off x="558800" y="660400"/>
            <a:ext cx="10795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The same app serves two people without duplicating the system.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FE954-6804-E410-8C7C-219CA273350E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Screens are Arabic/RTL-capable and backed by shared providers and repositories.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E63950-1BBE-55D0-E300-E458A5C81B0A}"/>
              </a:ext>
            </a:extLst>
          </p:cNvPr>
          <p:cNvSpPr/>
          <p:nvPr/>
        </p:nvSpPr>
        <p:spPr>
          <a:xfrm>
            <a:off x="1016000" y="1955800"/>
            <a:ext cx="1244600" cy="244221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4D4DBF-21F4-45A3-6A72-56B71C1E23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89" y="2057400"/>
            <a:ext cx="1089422" cy="2239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51D3F-108A-6F75-EDD2-4F4062227837}"/>
              </a:ext>
            </a:extLst>
          </p:cNvPr>
          <p:cNvSpPr txBox="1"/>
          <p:nvPr/>
        </p:nvSpPr>
        <p:spPr>
          <a:xfrm>
            <a:off x="965200" y="443611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Patient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07E98D-83A6-55CE-DC5C-469430126E48}"/>
              </a:ext>
            </a:extLst>
          </p:cNvPr>
          <p:cNvSpPr/>
          <p:nvPr/>
        </p:nvSpPr>
        <p:spPr>
          <a:xfrm>
            <a:off x="3022600" y="1955800"/>
            <a:ext cx="1244600" cy="244221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4E26C6-E4A3-5E9D-4B1D-F625B828D20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929" y="2057400"/>
            <a:ext cx="1079943" cy="22390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3F4292-3B62-7E50-46F9-11EA833D4BBC}"/>
              </a:ext>
            </a:extLst>
          </p:cNvPr>
          <p:cNvSpPr txBox="1"/>
          <p:nvPr/>
        </p:nvSpPr>
        <p:spPr>
          <a:xfrm>
            <a:off x="2971800" y="443611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Caregiver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ED5353-DC6F-31A3-EE3C-F3F77C3EC423}"/>
              </a:ext>
            </a:extLst>
          </p:cNvPr>
          <p:cNvSpPr/>
          <p:nvPr/>
        </p:nvSpPr>
        <p:spPr>
          <a:xfrm>
            <a:off x="5029200" y="1955800"/>
            <a:ext cx="1244600" cy="244221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D0C19C-8028-0185-6DF0-A7653F164E6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265" y="2057400"/>
            <a:ext cx="1090469" cy="22390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1E5CDA9-D00F-8C42-F625-C12FD4F6433E}"/>
              </a:ext>
            </a:extLst>
          </p:cNvPr>
          <p:cNvSpPr txBox="1"/>
          <p:nvPr/>
        </p:nvSpPr>
        <p:spPr>
          <a:xfrm>
            <a:off x="4978400" y="443611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BP result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50E871-364F-AE5E-DA0B-5404F7557AB4}"/>
              </a:ext>
            </a:extLst>
          </p:cNvPr>
          <p:cNvSpPr/>
          <p:nvPr/>
        </p:nvSpPr>
        <p:spPr>
          <a:xfrm>
            <a:off x="7035800" y="1955800"/>
            <a:ext cx="1244600" cy="244221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804F56-8469-4C30-0CD1-204F2E966F6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463" y="2057400"/>
            <a:ext cx="1087274" cy="22390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6750BC-DB79-14F1-0BB5-29789CF993D6}"/>
              </a:ext>
            </a:extLst>
          </p:cNvPr>
          <p:cNvSpPr txBox="1"/>
          <p:nvPr/>
        </p:nvSpPr>
        <p:spPr>
          <a:xfrm>
            <a:off x="6985000" y="443611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Alerts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921452-7B66-DED3-DFCA-0D88EC40987C}"/>
              </a:ext>
            </a:extLst>
          </p:cNvPr>
          <p:cNvSpPr/>
          <p:nvPr/>
        </p:nvSpPr>
        <p:spPr>
          <a:xfrm>
            <a:off x="9042400" y="1955800"/>
            <a:ext cx="1244600" cy="244221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2EAA8B-8387-2357-2357-FCE72C627A4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072" y="2057400"/>
            <a:ext cx="1085256" cy="22390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103A1A-3B37-EB46-E410-108C60B042DC}"/>
              </a:ext>
            </a:extLst>
          </p:cNvPr>
          <p:cNvSpPr txBox="1"/>
          <p:nvPr/>
        </p:nvSpPr>
        <p:spPr>
          <a:xfrm>
            <a:off x="8991600" y="443611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Linking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5812D5-63A6-D562-3E8A-1E9A80ADC67B}"/>
              </a:ext>
            </a:extLst>
          </p:cNvPr>
          <p:cNvSpPr txBox="1"/>
          <p:nvPr/>
        </p:nvSpPr>
        <p:spPr>
          <a:xfrm>
            <a:off x="1600200" y="5638800"/>
            <a:ext cx="8991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172026"/>
                </a:solidFill>
                <a:latin typeface="Segoe UI" panose="020B0502040204020203" pitchFamily="34" charset="0"/>
              </a:rPr>
              <a:t>One codebase, role-aware routing, localized reminders, and offline access to the last known vital history.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AA02B0-88CA-2BE4-6F33-EA822A833B80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209C2C-D3EE-C460-D2A7-89CEA89F6B62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9888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8" grpId="0"/>
      <p:bldP spid="9" grpId="0" animBg="1"/>
      <p:bldP spid="12" grpId="0"/>
      <p:bldP spid="13" grpId="0" animBg="1"/>
      <p:bldP spid="16" grpId="0"/>
      <p:bldP spid="17" grpId="0" animBg="1"/>
      <p:bldP spid="20" grpId="0"/>
      <p:bldP spid="21" grpId="0" animBg="1"/>
      <p:bldP spid="24" grpId="0"/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47192-22A1-4F0F-F71F-D2643AF59641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1E5FF-F061-8F33-65E7-FA2A1504F93B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hardware is custom, but each device has a narrow responsibility.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660CC-654D-7B64-C2DB-03AD06E6A507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That makes the prototype easier to reason about and safer to fail.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74F653-E7D7-FFAE-0E36-09D736AAF2DE}"/>
              </a:ext>
            </a:extLst>
          </p:cNvPr>
          <p:cNvSpPr/>
          <p:nvPr/>
        </p:nvSpPr>
        <p:spPr>
          <a:xfrm>
            <a:off x="736600" y="1930400"/>
            <a:ext cx="51435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1D553-FF13-1F75-CBA7-F7065ED80B60}"/>
              </a:ext>
            </a:extLst>
          </p:cNvPr>
          <p:cNvSpPr txBox="1"/>
          <p:nvPr/>
        </p:nvSpPr>
        <p:spPr>
          <a:xfrm>
            <a:off x="1016000" y="2184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F7C80"/>
                </a:solidFill>
                <a:latin typeface="Segoe UI" panose="020B0502040204020203" pitchFamily="34" charset="0"/>
              </a:rPr>
              <a:t>Blood-pressure sensing unit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1143E5-F7DC-44EF-7E33-29D7AA30E7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2778125"/>
            <a:ext cx="1803400" cy="1352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E722E8-0525-9C1F-5379-0C6316F72C53}"/>
              </a:ext>
            </a:extLst>
          </p:cNvPr>
          <p:cNvSpPr txBox="1"/>
          <p:nvPr/>
        </p:nvSpPr>
        <p:spPr>
          <a:xfrm>
            <a:off x="3098800" y="2768600"/>
            <a:ext cx="2413000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ESP8266-12E, MAX30102 PPG, AD8232 ECG</a:t>
            </a:r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- 100 Hz sampling, exactly 800 samples per channel</a:t>
            </a:r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finger and lead-off gates reject bad windows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164008-B827-39BA-7C2D-F0EFAD240130}"/>
              </a:ext>
            </a:extLst>
          </p:cNvPr>
          <p:cNvSpPr/>
          <p:nvPr/>
        </p:nvSpPr>
        <p:spPr>
          <a:xfrm>
            <a:off x="6324600" y="1930400"/>
            <a:ext cx="51435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1F6B6-3092-7CCB-E737-5933A4014D73}"/>
              </a:ext>
            </a:extLst>
          </p:cNvPr>
          <p:cNvSpPr txBox="1"/>
          <p:nvPr/>
        </p:nvSpPr>
        <p:spPr>
          <a:xfrm>
            <a:off x="6604000" y="2184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85D57"/>
                </a:solidFill>
                <a:latin typeface="Segoe UI" panose="020B0502040204020203" pitchFamily="34" charset="0"/>
              </a:rPr>
              <a:t>Smart medicine box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F86D82-1E6B-DC87-C443-ACC702B26A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778125"/>
            <a:ext cx="1803400" cy="135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9246A2-5012-1DC2-AA07-C2EB0EB7357A}"/>
              </a:ext>
            </a:extLst>
          </p:cNvPr>
          <p:cNvSpPr txBox="1"/>
          <p:nvPr/>
        </p:nvSpPr>
        <p:spPr>
          <a:xfrm>
            <a:off x="8712200" y="2768600"/>
            <a:ext cx="2413000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ESP32 plus 74HC595, LEDs and buzzer</a:t>
            </a:r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indicator, not dispenser: patient opens drawer</a:t>
            </a:r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fail-soft: phone alarm still fires if box is offline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695BE4-8CED-BC38-1742-B1CB652C5B4E}"/>
              </a:ext>
            </a:extLst>
          </p:cNvPr>
          <p:cNvSpPr txBox="1"/>
          <p:nvPr/>
        </p:nvSpPr>
        <p:spPr>
          <a:xfrm>
            <a:off x="1676400" y="5511800"/>
            <a:ext cx="8839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5C6B73"/>
                </a:solidFill>
                <a:latin typeface="Segoe UI" panose="020B0502040204020203" pitchFamily="34" charset="0"/>
              </a:rPr>
              <a:t>Honesty point: neither device contains the AI model; all clinical interpretation stays in the backend.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4EB0E-2B0C-421E-4E9C-91A48E86E26D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19862-6346-346B-258D-D3772EED0841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54421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9" grpId="0"/>
      <p:bldP spid="10" grpId="0" animBg="1"/>
      <p:bldP spid="11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2E4B5-091B-6443-A29D-919A1DA08290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BP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5499B-C189-C775-C395-1DE1EF884A49}"/>
              </a:ext>
            </a:extLst>
          </p:cNvPr>
          <p:cNvSpPr txBox="1"/>
          <p:nvPr/>
        </p:nvSpPr>
        <p:spPr>
          <a:xfrm>
            <a:off x="558800" y="660400"/>
            <a:ext cx="10795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The BP model was evaluated as a fair model-selection problem.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70101-FE89-6354-5D8C-504D9F5AA5C6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The dataset split and preprocessing choices are the credibility story.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B5F81B-8DE3-A1CC-5E00-57330BE9A4C2}"/>
              </a:ext>
            </a:extLst>
          </p:cNvPr>
          <p:cNvSpPr/>
          <p:nvPr/>
        </p:nvSpPr>
        <p:spPr>
          <a:xfrm>
            <a:off x="889000" y="2133600"/>
            <a:ext cx="2286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44C8F-FE30-6927-CC0D-81982A8D02D6}"/>
              </a:ext>
            </a:extLst>
          </p:cNvPr>
          <p:cNvSpPr txBox="1"/>
          <p:nvPr/>
        </p:nvSpPr>
        <p:spPr>
          <a:xfrm>
            <a:off x="1066800" y="2298700"/>
            <a:ext cx="1930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0F7C80"/>
                </a:solidFill>
                <a:latin typeface="Segoe UI" panose="020B0502040204020203" pitchFamily="34" charset="0"/>
              </a:rPr>
              <a:t>653K+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531B2-4E46-CFE1-6778-41A43FFDA90C}"/>
              </a:ext>
            </a:extLst>
          </p:cNvPr>
          <p:cNvSpPr txBox="1"/>
          <p:nvPr/>
        </p:nvSpPr>
        <p:spPr>
          <a:xfrm>
            <a:off x="1041400" y="27813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PPG + ECG signal windows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1821E2-EC89-2A16-097E-EF6CF9AD7920}"/>
              </a:ext>
            </a:extLst>
          </p:cNvPr>
          <p:cNvSpPr/>
          <p:nvPr/>
        </p:nvSpPr>
        <p:spPr>
          <a:xfrm>
            <a:off x="3581400" y="2133600"/>
            <a:ext cx="2286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B80D4-5C02-75A5-F3EB-7F0097D0E77E}"/>
              </a:ext>
            </a:extLst>
          </p:cNvPr>
          <p:cNvSpPr txBox="1"/>
          <p:nvPr/>
        </p:nvSpPr>
        <p:spPr>
          <a:xfrm>
            <a:off x="3759200" y="2298700"/>
            <a:ext cx="1930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3A86B7"/>
                </a:solidFill>
                <a:latin typeface="Segoe UI" panose="020B0502040204020203" pitchFamily="34" charset="0"/>
              </a:rPr>
              <a:t>1,631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E91405-2AE1-33F8-C588-AE0C2755B7D7}"/>
              </a:ext>
            </a:extLst>
          </p:cNvPr>
          <p:cNvSpPr txBox="1"/>
          <p:nvPr/>
        </p:nvSpPr>
        <p:spPr>
          <a:xfrm>
            <a:off x="3733800" y="27813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held-out patient records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6BE5D2-A9A0-FEFE-FE09-7678218F7EF4}"/>
              </a:ext>
            </a:extLst>
          </p:cNvPr>
          <p:cNvSpPr/>
          <p:nvPr/>
        </p:nvSpPr>
        <p:spPr>
          <a:xfrm>
            <a:off x="6273800" y="2133600"/>
            <a:ext cx="2286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A5FB62-EC1F-8B0D-58B0-38D004AFC17D}"/>
              </a:ext>
            </a:extLst>
          </p:cNvPr>
          <p:cNvSpPr txBox="1"/>
          <p:nvPr/>
        </p:nvSpPr>
        <p:spPr>
          <a:xfrm>
            <a:off x="6451600" y="2298700"/>
            <a:ext cx="1930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E85D57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8E673-1C15-991C-0DF6-6E4066EF46BB}"/>
              </a:ext>
            </a:extLst>
          </p:cNvPr>
          <p:cNvSpPr txBox="1"/>
          <p:nvPr/>
        </p:nvSpPr>
        <p:spPr>
          <a:xfrm>
            <a:off x="6426200" y="27813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models compared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86C565-ACBF-D53A-83AE-A4DBDF277DCA}"/>
              </a:ext>
            </a:extLst>
          </p:cNvPr>
          <p:cNvSpPr/>
          <p:nvPr/>
        </p:nvSpPr>
        <p:spPr>
          <a:xfrm>
            <a:off x="8966200" y="2133600"/>
            <a:ext cx="2286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3C7C1-77AF-4612-4BB5-5EBEA64FDD5A}"/>
              </a:ext>
            </a:extLst>
          </p:cNvPr>
          <p:cNvSpPr txBox="1"/>
          <p:nvPr/>
        </p:nvSpPr>
        <p:spPr>
          <a:xfrm>
            <a:off x="9144000" y="2298700"/>
            <a:ext cx="1930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2E8B57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C21DA-3CE6-84CF-CAED-AD1165B9445C}"/>
              </a:ext>
            </a:extLst>
          </p:cNvPr>
          <p:cNvSpPr txBox="1"/>
          <p:nvPr/>
        </p:nvSpPr>
        <p:spPr>
          <a:xfrm>
            <a:off x="9118600" y="27813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hand-crafted waveform features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F6FC6C-6893-61BD-F28F-E29D655AA6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582" y="3987800"/>
            <a:ext cx="3634036" cy="101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310353-F9B5-3BD1-33BE-33E1A712906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382" y="3987800"/>
            <a:ext cx="3634036" cy="1016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EEF90E5-191F-900B-4ECD-8D9757EE6F5C}"/>
              </a:ext>
            </a:extLst>
          </p:cNvPr>
          <p:cNvSpPr txBox="1"/>
          <p:nvPr/>
        </p:nvSpPr>
        <p:spPr>
          <a:xfrm>
            <a:off x="1193800" y="5461000"/>
            <a:ext cx="980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5C6B73"/>
                </a:solidFill>
                <a:latin typeface="Segoe UI" panose="020B0502040204020203" pitchFamily="34" charset="0"/>
              </a:rPr>
              <a:t>Record-level split prevents leakage from overlapping windows of the same patient. Training and production share the same filtering, normalization, and feature extraction path.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CAE8BA-88DE-9E79-17BF-E262931EC597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1D58F0-495B-3A70-FB4F-5A7FB0DC9126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63352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A3CA2-79A6-BBEC-AD43-982C1C637BC7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BP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A2EFB-0721-7599-A68A-9FFD4F095F24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strongest result is also the most honest one: the simplest deep model won.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8714C-0852-DC5C-061A-84579EE1AA95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More architecture did not automatically mean better accuracy.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E6F45-D05E-2E69-348C-6DCB4554F9AE}"/>
              </a:ext>
            </a:extLst>
          </p:cNvPr>
          <p:cNvSpPr/>
          <p:nvPr/>
        </p:nvSpPr>
        <p:spPr>
          <a:xfrm>
            <a:off x="787400" y="1828800"/>
            <a:ext cx="1740548" cy="518583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62D52-6524-22DB-C18C-B487140C3135}"/>
              </a:ext>
            </a:extLst>
          </p:cNvPr>
          <p:cNvSpPr txBox="1"/>
          <p:nvPr/>
        </p:nvSpPr>
        <p:spPr>
          <a:xfrm>
            <a:off x="850900" y="1917700"/>
            <a:ext cx="16135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10A5B-A93F-7AFC-A604-01012E2C29EA}"/>
              </a:ext>
            </a:extLst>
          </p:cNvPr>
          <p:cNvSpPr/>
          <p:nvPr/>
        </p:nvSpPr>
        <p:spPr>
          <a:xfrm>
            <a:off x="2527948" y="1828800"/>
            <a:ext cx="864272" cy="518583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A6830-C42C-7710-3C4C-66292FB823C1}"/>
              </a:ext>
            </a:extLst>
          </p:cNvPr>
          <p:cNvSpPr txBox="1"/>
          <p:nvPr/>
        </p:nvSpPr>
        <p:spPr>
          <a:xfrm>
            <a:off x="2591448" y="1917700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SBP MAE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B4B54-BA1C-D14C-C268-D77F1FE9D5CD}"/>
              </a:ext>
            </a:extLst>
          </p:cNvPr>
          <p:cNvSpPr/>
          <p:nvPr/>
        </p:nvSpPr>
        <p:spPr>
          <a:xfrm>
            <a:off x="3392220" y="1828800"/>
            <a:ext cx="864273" cy="518583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C2987-69B6-E245-3114-2EA8ED3E060E}"/>
              </a:ext>
            </a:extLst>
          </p:cNvPr>
          <p:cNvSpPr txBox="1"/>
          <p:nvPr/>
        </p:nvSpPr>
        <p:spPr>
          <a:xfrm>
            <a:off x="3455720" y="1917700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DBP MAE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D545B-D4D9-C5C7-F6A4-B5EBBA033776}"/>
              </a:ext>
            </a:extLst>
          </p:cNvPr>
          <p:cNvSpPr/>
          <p:nvPr/>
        </p:nvSpPr>
        <p:spPr>
          <a:xfrm>
            <a:off x="4256493" y="1828800"/>
            <a:ext cx="780245" cy="518583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E2F7B-075F-51CD-652E-F319588D5D5A}"/>
              </a:ext>
            </a:extLst>
          </p:cNvPr>
          <p:cNvSpPr txBox="1"/>
          <p:nvPr/>
        </p:nvSpPr>
        <p:spPr>
          <a:xfrm>
            <a:off x="4319993" y="1917700"/>
            <a:ext cx="65324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DBP BHS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FEA9A-995D-F8CB-5F86-84617E28A1FC}"/>
              </a:ext>
            </a:extLst>
          </p:cNvPr>
          <p:cNvSpPr/>
          <p:nvPr/>
        </p:nvSpPr>
        <p:spPr>
          <a:xfrm>
            <a:off x="5036738" y="1828800"/>
            <a:ext cx="2100662" cy="518583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336378-4527-3760-DEC6-9CAB3BC1AC89}"/>
              </a:ext>
            </a:extLst>
          </p:cNvPr>
          <p:cNvSpPr txBox="1"/>
          <p:nvPr/>
        </p:nvSpPr>
        <p:spPr>
          <a:xfrm>
            <a:off x="5100238" y="1917700"/>
            <a:ext cx="197366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Interpretation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7853E4-9E6D-6B53-F883-3BED40A63F7E}"/>
              </a:ext>
            </a:extLst>
          </p:cNvPr>
          <p:cNvSpPr/>
          <p:nvPr/>
        </p:nvSpPr>
        <p:spPr>
          <a:xfrm>
            <a:off x="787400" y="2347383"/>
            <a:ext cx="1740548" cy="51858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57C22E-1428-E1CB-12B4-61D16087B689}"/>
              </a:ext>
            </a:extLst>
          </p:cNvPr>
          <p:cNvSpPr txBox="1"/>
          <p:nvPr/>
        </p:nvSpPr>
        <p:spPr>
          <a:xfrm>
            <a:off x="850900" y="2436283"/>
            <a:ext cx="16135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1D-CNN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D96FE4-D907-DECD-0755-76E5B85C103D}"/>
              </a:ext>
            </a:extLst>
          </p:cNvPr>
          <p:cNvSpPr/>
          <p:nvPr/>
        </p:nvSpPr>
        <p:spPr>
          <a:xfrm>
            <a:off x="2527948" y="2347383"/>
            <a:ext cx="864272" cy="51858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38213D-29B9-5F3D-1F28-5D27001A0148}"/>
              </a:ext>
            </a:extLst>
          </p:cNvPr>
          <p:cNvSpPr txBox="1"/>
          <p:nvPr/>
        </p:nvSpPr>
        <p:spPr>
          <a:xfrm>
            <a:off x="2591448" y="2436283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9.08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76EAD7-89D5-B24A-DC92-59D85E1C784A}"/>
              </a:ext>
            </a:extLst>
          </p:cNvPr>
          <p:cNvSpPr/>
          <p:nvPr/>
        </p:nvSpPr>
        <p:spPr>
          <a:xfrm>
            <a:off x="3392220" y="2347383"/>
            <a:ext cx="864273" cy="51858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7FFEA6-D20B-E62A-DFE5-4FC51948BB50}"/>
              </a:ext>
            </a:extLst>
          </p:cNvPr>
          <p:cNvSpPr txBox="1"/>
          <p:nvPr/>
        </p:nvSpPr>
        <p:spPr>
          <a:xfrm>
            <a:off x="3455720" y="2436283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4.91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4808EB-345B-DB3E-4EC1-47CF337DB3D7}"/>
              </a:ext>
            </a:extLst>
          </p:cNvPr>
          <p:cNvSpPr/>
          <p:nvPr/>
        </p:nvSpPr>
        <p:spPr>
          <a:xfrm>
            <a:off x="4256493" y="2347383"/>
            <a:ext cx="780245" cy="51858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FA347-3E61-10EF-E0C5-8A97A640CAC3}"/>
              </a:ext>
            </a:extLst>
          </p:cNvPr>
          <p:cNvSpPr txBox="1"/>
          <p:nvPr/>
        </p:nvSpPr>
        <p:spPr>
          <a:xfrm>
            <a:off x="4319993" y="2436283"/>
            <a:ext cx="65324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55347-237B-A467-BC8A-D4BC3E470BBC}"/>
              </a:ext>
            </a:extLst>
          </p:cNvPr>
          <p:cNvSpPr/>
          <p:nvPr/>
        </p:nvSpPr>
        <p:spPr>
          <a:xfrm>
            <a:off x="5036738" y="2347383"/>
            <a:ext cx="2100662" cy="51858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836B37-342B-DE4B-2C08-0EEFB4C40FF2}"/>
              </a:ext>
            </a:extLst>
          </p:cNvPr>
          <p:cNvSpPr txBox="1"/>
          <p:nvPr/>
        </p:nvSpPr>
        <p:spPr>
          <a:xfrm>
            <a:off x="5100238" y="2436283"/>
            <a:ext cx="197366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best overall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DCB367-8C4F-5910-1E10-AAFC194BD875}"/>
              </a:ext>
            </a:extLst>
          </p:cNvPr>
          <p:cNvSpPr/>
          <p:nvPr/>
        </p:nvSpPr>
        <p:spPr>
          <a:xfrm>
            <a:off x="787400" y="2865967"/>
            <a:ext cx="1740548" cy="51858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FA38D8-99A7-B62E-19A4-893DC723F531}"/>
              </a:ext>
            </a:extLst>
          </p:cNvPr>
          <p:cNvSpPr txBox="1"/>
          <p:nvPr/>
        </p:nvSpPr>
        <p:spPr>
          <a:xfrm>
            <a:off x="850900" y="2954867"/>
            <a:ext cx="16135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TCN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D08E3-38CF-EAB1-48AA-FFC775C1629A}"/>
              </a:ext>
            </a:extLst>
          </p:cNvPr>
          <p:cNvSpPr/>
          <p:nvPr/>
        </p:nvSpPr>
        <p:spPr>
          <a:xfrm>
            <a:off x="2527948" y="2865967"/>
            <a:ext cx="864272" cy="51858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F28862-2E8B-30F1-7FE5-F1A7DCF08F2F}"/>
              </a:ext>
            </a:extLst>
          </p:cNvPr>
          <p:cNvSpPr txBox="1"/>
          <p:nvPr/>
        </p:nvSpPr>
        <p:spPr>
          <a:xfrm>
            <a:off x="2591448" y="2954867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9.79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FD4FDC-B718-F05D-73B4-6DABD3167CA4}"/>
              </a:ext>
            </a:extLst>
          </p:cNvPr>
          <p:cNvSpPr/>
          <p:nvPr/>
        </p:nvSpPr>
        <p:spPr>
          <a:xfrm>
            <a:off x="3392220" y="2865967"/>
            <a:ext cx="864273" cy="51858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7F25F8-ED07-0B53-FA69-988ED416F058}"/>
              </a:ext>
            </a:extLst>
          </p:cNvPr>
          <p:cNvSpPr txBox="1"/>
          <p:nvPr/>
        </p:nvSpPr>
        <p:spPr>
          <a:xfrm>
            <a:off x="3455720" y="2954867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5.31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3C3E41-5967-A293-C5C9-CCABF2144361}"/>
              </a:ext>
            </a:extLst>
          </p:cNvPr>
          <p:cNvSpPr/>
          <p:nvPr/>
        </p:nvSpPr>
        <p:spPr>
          <a:xfrm>
            <a:off x="4256493" y="2865967"/>
            <a:ext cx="780245" cy="51858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A9A2E0-D549-341B-5A96-CB12F607E0CA}"/>
              </a:ext>
            </a:extLst>
          </p:cNvPr>
          <p:cNvSpPr txBox="1"/>
          <p:nvPr/>
        </p:nvSpPr>
        <p:spPr>
          <a:xfrm>
            <a:off x="4319993" y="2954867"/>
            <a:ext cx="65324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CA4A7A-A18D-5C52-ACC5-633D2F608E8E}"/>
              </a:ext>
            </a:extLst>
          </p:cNvPr>
          <p:cNvSpPr/>
          <p:nvPr/>
        </p:nvSpPr>
        <p:spPr>
          <a:xfrm>
            <a:off x="5036738" y="2865967"/>
            <a:ext cx="2100662" cy="51858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A834F3-4075-B564-5DFF-4D306685D162}"/>
              </a:ext>
            </a:extLst>
          </p:cNvPr>
          <p:cNvSpPr txBox="1"/>
          <p:nvPr/>
        </p:nvSpPr>
        <p:spPr>
          <a:xfrm>
            <a:off x="5100238" y="2954867"/>
            <a:ext cx="197366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close but weaker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2C8D9F-A6BC-BBC9-B823-F0CF3BD7A065}"/>
              </a:ext>
            </a:extLst>
          </p:cNvPr>
          <p:cNvSpPr/>
          <p:nvPr/>
        </p:nvSpPr>
        <p:spPr>
          <a:xfrm>
            <a:off x="787400" y="3384550"/>
            <a:ext cx="1740548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52B2D-C499-27E3-2E02-1381E699A7B4}"/>
              </a:ext>
            </a:extLst>
          </p:cNvPr>
          <p:cNvSpPr txBox="1"/>
          <p:nvPr/>
        </p:nvSpPr>
        <p:spPr>
          <a:xfrm>
            <a:off x="850900" y="3473450"/>
            <a:ext cx="16135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TCN+BiLSTM+Attn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BE59DC-BDBA-3267-CC35-484D017E435F}"/>
              </a:ext>
            </a:extLst>
          </p:cNvPr>
          <p:cNvSpPr/>
          <p:nvPr/>
        </p:nvSpPr>
        <p:spPr>
          <a:xfrm>
            <a:off x="2527948" y="3384550"/>
            <a:ext cx="864272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E5D87E-256B-AA58-A211-FBD2AA069D8F}"/>
              </a:ext>
            </a:extLst>
          </p:cNvPr>
          <p:cNvSpPr txBox="1"/>
          <p:nvPr/>
        </p:nvSpPr>
        <p:spPr>
          <a:xfrm>
            <a:off x="2591448" y="3473450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10.17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F40F4C-D172-2267-A203-C1CF1507048A}"/>
              </a:ext>
            </a:extLst>
          </p:cNvPr>
          <p:cNvSpPr/>
          <p:nvPr/>
        </p:nvSpPr>
        <p:spPr>
          <a:xfrm>
            <a:off x="3392220" y="3384550"/>
            <a:ext cx="864273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4C48FA-A6AA-65FF-48DE-1F68C6B63905}"/>
              </a:ext>
            </a:extLst>
          </p:cNvPr>
          <p:cNvSpPr txBox="1"/>
          <p:nvPr/>
        </p:nvSpPr>
        <p:spPr>
          <a:xfrm>
            <a:off x="3455720" y="3473450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5.63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3B34896-14AB-1E5D-941E-813312283593}"/>
              </a:ext>
            </a:extLst>
          </p:cNvPr>
          <p:cNvSpPr/>
          <p:nvPr/>
        </p:nvSpPr>
        <p:spPr>
          <a:xfrm>
            <a:off x="4256493" y="3384550"/>
            <a:ext cx="780245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9FCBB0-9A58-2530-889E-656323944230}"/>
              </a:ext>
            </a:extLst>
          </p:cNvPr>
          <p:cNvSpPr txBox="1"/>
          <p:nvPr/>
        </p:nvSpPr>
        <p:spPr>
          <a:xfrm>
            <a:off x="4319993" y="3473450"/>
            <a:ext cx="65324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DCEF91-FB52-DCB5-0D70-E989A2180C90}"/>
              </a:ext>
            </a:extLst>
          </p:cNvPr>
          <p:cNvSpPr/>
          <p:nvPr/>
        </p:nvSpPr>
        <p:spPr>
          <a:xfrm>
            <a:off x="5036738" y="3384550"/>
            <a:ext cx="2100662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9FBED0-7B78-5089-263D-ABF03E4163A6}"/>
              </a:ext>
            </a:extLst>
          </p:cNvPr>
          <p:cNvSpPr txBox="1"/>
          <p:nvPr/>
        </p:nvSpPr>
        <p:spPr>
          <a:xfrm>
            <a:off x="5100238" y="3473450"/>
            <a:ext cx="197366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our proposed model did not win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B23E52-1214-FB29-F01B-3D0A97CB6B97}"/>
              </a:ext>
            </a:extLst>
          </p:cNvPr>
          <p:cNvSpPr/>
          <p:nvPr/>
        </p:nvSpPr>
        <p:spPr>
          <a:xfrm>
            <a:off x="787400" y="3903133"/>
            <a:ext cx="1740548" cy="51858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B23911-6A89-883F-26A6-2A307BFBC314}"/>
              </a:ext>
            </a:extLst>
          </p:cNvPr>
          <p:cNvSpPr txBox="1"/>
          <p:nvPr/>
        </p:nvSpPr>
        <p:spPr>
          <a:xfrm>
            <a:off x="850900" y="3992033"/>
            <a:ext cx="16135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BiLSTM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8D6D30D-DC33-C07D-49A6-3258FAE7CEDE}"/>
              </a:ext>
            </a:extLst>
          </p:cNvPr>
          <p:cNvSpPr/>
          <p:nvPr/>
        </p:nvSpPr>
        <p:spPr>
          <a:xfrm>
            <a:off x="2527948" y="3903133"/>
            <a:ext cx="864272" cy="51858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844D3C-9DBB-C942-2B57-F96EB4D88B39}"/>
              </a:ext>
            </a:extLst>
          </p:cNvPr>
          <p:cNvSpPr txBox="1"/>
          <p:nvPr/>
        </p:nvSpPr>
        <p:spPr>
          <a:xfrm>
            <a:off x="2591448" y="3992033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14.34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1E18F1-6C12-BD62-2A78-D6EBF555FA41}"/>
              </a:ext>
            </a:extLst>
          </p:cNvPr>
          <p:cNvSpPr/>
          <p:nvPr/>
        </p:nvSpPr>
        <p:spPr>
          <a:xfrm>
            <a:off x="3392220" y="3903133"/>
            <a:ext cx="864273" cy="51858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4611F9-26A2-F7FF-A1B5-6965A8BC0F79}"/>
              </a:ext>
            </a:extLst>
          </p:cNvPr>
          <p:cNvSpPr txBox="1"/>
          <p:nvPr/>
        </p:nvSpPr>
        <p:spPr>
          <a:xfrm>
            <a:off x="3455720" y="3992033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7.28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2F991E1-AB5F-0E16-BA64-4294DA224D7F}"/>
              </a:ext>
            </a:extLst>
          </p:cNvPr>
          <p:cNvSpPr/>
          <p:nvPr/>
        </p:nvSpPr>
        <p:spPr>
          <a:xfrm>
            <a:off x="4256493" y="3903133"/>
            <a:ext cx="780245" cy="51858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E483CF-545A-BDA2-74BC-935A8ADFDC37}"/>
              </a:ext>
            </a:extLst>
          </p:cNvPr>
          <p:cNvSpPr txBox="1"/>
          <p:nvPr/>
        </p:nvSpPr>
        <p:spPr>
          <a:xfrm>
            <a:off x="4319993" y="3992033"/>
            <a:ext cx="65324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3A3FEE6-C889-8809-A097-2FDF3534182D}"/>
              </a:ext>
            </a:extLst>
          </p:cNvPr>
          <p:cNvSpPr/>
          <p:nvPr/>
        </p:nvSpPr>
        <p:spPr>
          <a:xfrm>
            <a:off x="5036738" y="3903133"/>
            <a:ext cx="2100662" cy="51858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9556F6-9DCF-3C90-D3C4-EB9241F8B341}"/>
              </a:ext>
            </a:extLst>
          </p:cNvPr>
          <p:cNvSpPr txBox="1"/>
          <p:nvPr/>
        </p:nvSpPr>
        <p:spPr>
          <a:xfrm>
            <a:off x="5100238" y="3992033"/>
            <a:ext cx="197366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weaker sequence baseline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1401398-0EEA-3424-F36F-5D0ED6FFA2ED}"/>
              </a:ext>
            </a:extLst>
          </p:cNvPr>
          <p:cNvSpPr/>
          <p:nvPr/>
        </p:nvSpPr>
        <p:spPr>
          <a:xfrm>
            <a:off x="787400" y="4421717"/>
            <a:ext cx="1740548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CAE167-1395-7C5C-EE58-97A13C2E720C}"/>
              </a:ext>
            </a:extLst>
          </p:cNvPr>
          <p:cNvSpPr txBox="1"/>
          <p:nvPr/>
        </p:nvSpPr>
        <p:spPr>
          <a:xfrm>
            <a:off x="850900" y="4510617"/>
            <a:ext cx="16135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XGBoost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5339BD-03E5-D404-4D28-EB8E6D717F63}"/>
              </a:ext>
            </a:extLst>
          </p:cNvPr>
          <p:cNvSpPr/>
          <p:nvPr/>
        </p:nvSpPr>
        <p:spPr>
          <a:xfrm>
            <a:off x="2527948" y="4421717"/>
            <a:ext cx="864272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15F007-7201-DC1A-A441-62A8EC8DBBC5}"/>
              </a:ext>
            </a:extLst>
          </p:cNvPr>
          <p:cNvSpPr txBox="1"/>
          <p:nvPr/>
        </p:nvSpPr>
        <p:spPr>
          <a:xfrm>
            <a:off x="2591448" y="4510617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14.71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5657841-34A0-1588-9728-A2D7D5A6747B}"/>
              </a:ext>
            </a:extLst>
          </p:cNvPr>
          <p:cNvSpPr/>
          <p:nvPr/>
        </p:nvSpPr>
        <p:spPr>
          <a:xfrm>
            <a:off x="3392220" y="4421717"/>
            <a:ext cx="864273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A9321E-CD78-BD49-49EB-561DD1BFF15E}"/>
              </a:ext>
            </a:extLst>
          </p:cNvPr>
          <p:cNvSpPr txBox="1"/>
          <p:nvPr/>
        </p:nvSpPr>
        <p:spPr>
          <a:xfrm>
            <a:off x="3455720" y="4510617"/>
            <a:ext cx="73727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7.45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0465C8-0A5B-F87B-CE65-0834C50A0969}"/>
              </a:ext>
            </a:extLst>
          </p:cNvPr>
          <p:cNvSpPr/>
          <p:nvPr/>
        </p:nvSpPr>
        <p:spPr>
          <a:xfrm>
            <a:off x="4256493" y="4421717"/>
            <a:ext cx="780245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A20678-32F4-739B-F6F4-C51FBFC27BBE}"/>
              </a:ext>
            </a:extLst>
          </p:cNvPr>
          <p:cNvSpPr txBox="1"/>
          <p:nvPr/>
        </p:nvSpPr>
        <p:spPr>
          <a:xfrm>
            <a:off x="4319993" y="4510617"/>
            <a:ext cx="65324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684C4BA-5F06-7D31-E036-ACB595ED30A3}"/>
              </a:ext>
            </a:extLst>
          </p:cNvPr>
          <p:cNvSpPr/>
          <p:nvPr/>
        </p:nvSpPr>
        <p:spPr>
          <a:xfrm>
            <a:off x="5036738" y="4421717"/>
            <a:ext cx="2100662" cy="51858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00A108-FE72-3EA0-8A6B-8C94EA371D1D}"/>
              </a:ext>
            </a:extLst>
          </p:cNvPr>
          <p:cNvSpPr txBox="1"/>
          <p:nvPr/>
        </p:nvSpPr>
        <p:spPr>
          <a:xfrm>
            <a:off x="5100238" y="4510617"/>
            <a:ext cx="197366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best classical baseline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0084DCA-B474-5E74-74B0-15B5D84A3E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632" y="1828800"/>
            <a:ext cx="2595137" cy="14986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401AE4C-DDB6-0CE7-E1EB-93BAE7D433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632" y="3530600"/>
            <a:ext cx="2595137" cy="14986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1A2E15C4-0E38-B9F2-7E02-B0C8C5E3D582}"/>
              </a:ext>
            </a:extLst>
          </p:cNvPr>
          <p:cNvSpPr txBox="1"/>
          <p:nvPr/>
        </p:nvSpPr>
        <p:spPr>
          <a:xfrm>
            <a:off x="1498600" y="5562600"/>
            <a:ext cx="9194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72026"/>
                </a:solidFill>
                <a:latin typeface="Segoe UI" panose="020B0502040204020203" pitchFamily="34" charset="0"/>
              </a:rPr>
              <a:t>Committee-ready takeaway: the team ran the baseline, accepted the result, and deployed the model that actually performed best.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042DCF-0514-DF6A-13B4-910E6987301E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250AA5-3D56-9352-82BC-5F088D0C8998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976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5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4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75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45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8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15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85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12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55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19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25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26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295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33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365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435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470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505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54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575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61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645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680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715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750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785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820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855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890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925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96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995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2030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0650"/>
                            </p:stCondLst>
                            <p:childTnLst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000"/>
                            </p:stCondLst>
                            <p:childTnLst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2135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21700"/>
                            </p:stCondLst>
                            <p:childTnLst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205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9" grpId="0"/>
      <p:bldP spid="70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9399B-C827-29C4-8F1C-11F4E787F6CC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CLINICAL TRUTH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73A3C-12A2-1848-4DE6-A08C23A473A7}"/>
              </a:ext>
            </a:extLst>
          </p:cNvPr>
          <p:cNvSpPr txBox="1"/>
          <p:nvPr/>
        </p:nvSpPr>
        <p:spPr>
          <a:xfrm>
            <a:off x="558800" y="6604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Best model and clinically acceptable model are different claims.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2628C-999E-D9C8-E4C5-891506404F1C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The deck says both out loud before the committee has to ask.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30E936-6715-B888-F31B-4544D106BB1A}"/>
              </a:ext>
            </a:extLst>
          </p:cNvPr>
          <p:cNvSpPr/>
          <p:nvPr/>
        </p:nvSpPr>
        <p:spPr>
          <a:xfrm>
            <a:off x="1219200" y="2159000"/>
            <a:ext cx="279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A59D4-154D-784D-BFF3-A381AC34101C}"/>
              </a:ext>
            </a:extLst>
          </p:cNvPr>
          <p:cNvSpPr txBox="1"/>
          <p:nvPr/>
        </p:nvSpPr>
        <p:spPr>
          <a:xfrm>
            <a:off x="1397000" y="2324100"/>
            <a:ext cx="2438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D64545"/>
                </a:solidFill>
                <a:latin typeface="Segoe UI" panose="020B0502040204020203" pitchFamily="34" charset="0"/>
              </a:rPr>
              <a:t>9.08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338B2-E52E-004F-898C-B3714DEE23F1}"/>
              </a:ext>
            </a:extLst>
          </p:cNvPr>
          <p:cNvSpPr txBox="1"/>
          <p:nvPr/>
        </p:nvSpPr>
        <p:spPr>
          <a:xfrm>
            <a:off x="1371600" y="2806700"/>
            <a:ext cx="2489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SBP MAE - fails AAMI, BHS 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3F470B-F445-F617-F34B-1C3BB8D9A8FB}"/>
              </a:ext>
            </a:extLst>
          </p:cNvPr>
          <p:cNvSpPr/>
          <p:nvPr/>
        </p:nvSpPr>
        <p:spPr>
          <a:xfrm>
            <a:off x="4699000" y="2159000"/>
            <a:ext cx="279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5E95E4-0BCD-B1AD-64D2-9670D03E7812}"/>
              </a:ext>
            </a:extLst>
          </p:cNvPr>
          <p:cNvSpPr txBox="1"/>
          <p:nvPr/>
        </p:nvSpPr>
        <p:spPr>
          <a:xfrm>
            <a:off x="4876800" y="2324100"/>
            <a:ext cx="2438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2E8B57"/>
                </a:solidFill>
                <a:latin typeface="Segoe UI" panose="020B0502040204020203" pitchFamily="34" charset="0"/>
              </a:rPr>
              <a:t>4.91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751AA-A73B-E685-DBBC-92627052A8A3}"/>
              </a:ext>
            </a:extLst>
          </p:cNvPr>
          <p:cNvSpPr txBox="1"/>
          <p:nvPr/>
        </p:nvSpPr>
        <p:spPr>
          <a:xfrm>
            <a:off x="4851400" y="2806700"/>
            <a:ext cx="2489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DBP MAE - passes AAMI, BHS 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ED2814-BFF5-3688-A7B9-6EC8E357D92D}"/>
              </a:ext>
            </a:extLst>
          </p:cNvPr>
          <p:cNvSpPr/>
          <p:nvPr/>
        </p:nvSpPr>
        <p:spPr>
          <a:xfrm>
            <a:off x="8178800" y="2159000"/>
            <a:ext cx="279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43D50-30C2-D474-3567-D84A8A7E5C4E}"/>
              </a:ext>
            </a:extLst>
          </p:cNvPr>
          <p:cNvSpPr txBox="1"/>
          <p:nvPr/>
        </p:nvSpPr>
        <p:spPr>
          <a:xfrm>
            <a:off x="8356600" y="2324100"/>
            <a:ext cx="2438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0F7C80"/>
                </a:solidFill>
                <a:latin typeface="Segoe UI" panose="020B0502040204020203" pitchFamily="34" charset="0"/>
              </a:rPr>
              <a:t>80 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77A06-B6DF-A1C2-7BAB-8539D0DEAC56}"/>
              </a:ext>
            </a:extLst>
          </p:cNvPr>
          <p:cNvSpPr txBox="1"/>
          <p:nvPr/>
        </p:nvSpPr>
        <p:spPr>
          <a:xfrm>
            <a:off x="8331200" y="2806700"/>
            <a:ext cx="2489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model inference after an 8s window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B00468-59DE-37CF-A2B2-599E3A42E1F0}"/>
              </a:ext>
            </a:extLst>
          </p:cNvPr>
          <p:cNvSpPr/>
          <p:nvPr/>
        </p:nvSpPr>
        <p:spPr>
          <a:xfrm>
            <a:off x="1676400" y="4038600"/>
            <a:ext cx="8839200" cy="1168400"/>
          </a:xfrm>
          <a:prstGeom prst="roundRect">
            <a:avLst/>
          </a:prstGeom>
          <a:solidFill>
            <a:srgbClr val="FFF8ED"/>
          </a:solidFill>
          <a:ln w="12700">
            <a:solidFill>
              <a:srgbClr val="F4C2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FDF13-36D2-EDFB-2F63-79C5838075E3}"/>
              </a:ext>
            </a:extLst>
          </p:cNvPr>
          <p:cNvSpPr txBox="1"/>
          <p:nvPr/>
        </p:nvSpPr>
        <p:spPr>
          <a:xfrm>
            <a:off x="2082800" y="4292600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9C5700"/>
                </a:solidFill>
                <a:latin typeface="Segoe UI" panose="020B0502040204020203" pitchFamily="34" charset="0"/>
              </a:rPr>
              <a:t>How we present it safely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899163-126E-2898-E583-5C4268D33D52}"/>
              </a:ext>
            </a:extLst>
          </p:cNvPr>
          <p:cNvSpPr txBox="1"/>
          <p:nvPr/>
        </p:nvSpPr>
        <p:spPr>
          <a:xfrm>
            <a:off x="2082800" y="4673600"/>
            <a:ext cx="7620000" cy="7309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SBP is a trend indicator until real-hardware validation closes the gap</a:t>
            </a:r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DBP clears the clinical accuracy bar in the current test set</a:t>
            </a:r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172026"/>
                </a:solidFill>
                <a:latin typeface="Segoe UI" panose="020B0502040204020203" pitchFamily="34" charset="0"/>
              </a:rPr>
              <a:t>- calibration, physiological clamping, and withheld states protect the app experience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249B9-693F-4E14-5EF0-7F53D388D3CE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1CF8E-4835-5E07-3142-F62CE89974D5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6173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54C41-85AA-2E4B-A9A6-5BE471BC0959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SYMPTOM TRIAGE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185460-F699-5394-AA1B-7EADF95D6D8E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symptom checker moves from text matching to structured triage.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93EE2-F8F5-0136-14A3-A9FFCA3295B9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Severity, duration, vitals, and risk factors become model input.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F231E0-474B-ECE4-DB34-684476DAB0DE}"/>
              </a:ext>
            </a:extLst>
          </p:cNvPr>
          <p:cNvSpPr/>
          <p:nvPr/>
        </p:nvSpPr>
        <p:spPr>
          <a:xfrm>
            <a:off x="863600" y="1905000"/>
            <a:ext cx="1117600" cy="218186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FA23F-E641-98CE-238B-8E0D1AFA34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2009912"/>
            <a:ext cx="965200" cy="1972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EE2F5C-7B93-AFE0-0C93-87E43DC91236}"/>
              </a:ext>
            </a:extLst>
          </p:cNvPr>
          <p:cNvSpPr txBox="1"/>
          <p:nvPr/>
        </p:nvSpPr>
        <p:spPr>
          <a:xfrm>
            <a:off x="812800" y="4124960"/>
            <a:ext cx="1219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Category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5C8EE5-D55D-BFAF-1553-9EA839820F22}"/>
              </a:ext>
            </a:extLst>
          </p:cNvPr>
          <p:cNvSpPr/>
          <p:nvPr/>
        </p:nvSpPr>
        <p:spPr>
          <a:xfrm>
            <a:off x="2540000" y="1905000"/>
            <a:ext cx="1117600" cy="218186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CAAE49-2006-7C4A-2B85-F0CDCE6A464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0" y="2011805"/>
            <a:ext cx="965200" cy="19682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B50A2A-4D13-497C-553A-FF42C6FC5F49}"/>
              </a:ext>
            </a:extLst>
          </p:cNvPr>
          <p:cNvSpPr txBox="1"/>
          <p:nvPr/>
        </p:nvSpPr>
        <p:spPr>
          <a:xfrm>
            <a:off x="2489200" y="4124960"/>
            <a:ext cx="1219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Symptoms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EC22BB-BE1B-B11C-25A2-67679DC89B4F}"/>
              </a:ext>
            </a:extLst>
          </p:cNvPr>
          <p:cNvSpPr/>
          <p:nvPr/>
        </p:nvSpPr>
        <p:spPr>
          <a:xfrm>
            <a:off x="4216400" y="1905000"/>
            <a:ext cx="1117600" cy="218186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83A81C-34EC-CFBD-5A09-B1FE22D71BD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071" y="2006600"/>
            <a:ext cx="956258" cy="19786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79DEC6-892F-382C-697D-4AF3F01C247E}"/>
              </a:ext>
            </a:extLst>
          </p:cNvPr>
          <p:cNvSpPr txBox="1"/>
          <p:nvPr/>
        </p:nvSpPr>
        <p:spPr>
          <a:xfrm>
            <a:off x="4165600" y="4124960"/>
            <a:ext cx="1219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Severity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D1741D-4A6F-E227-6DE5-D79C7FD84939}"/>
              </a:ext>
            </a:extLst>
          </p:cNvPr>
          <p:cNvSpPr/>
          <p:nvPr/>
        </p:nvSpPr>
        <p:spPr>
          <a:xfrm>
            <a:off x="5892800" y="1905000"/>
            <a:ext cx="1117600" cy="218186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AB6661-A0C3-6274-49F3-0454B9154AB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302" y="2006600"/>
            <a:ext cx="964597" cy="19786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AA714B-20BB-C6F4-797A-F719E14B1537}"/>
              </a:ext>
            </a:extLst>
          </p:cNvPr>
          <p:cNvSpPr txBox="1"/>
          <p:nvPr/>
        </p:nvSpPr>
        <p:spPr>
          <a:xfrm>
            <a:off x="5842000" y="4124960"/>
            <a:ext cx="1219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78649-C800-9E70-57E7-EC0E02D6012B}"/>
              </a:ext>
            </a:extLst>
          </p:cNvPr>
          <p:cNvSpPr/>
          <p:nvPr/>
        </p:nvSpPr>
        <p:spPr>
          <a:xfrm>
            <a:off x="8128000" y="2006600"/>
            <a:ext cx="2667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94C88C-8B38-1426-0743-41AF11DDF8A6}"/>
              </a:ext>
            </a:extLst>
          </p:cNvPr>
          <p:cNvSpPr txBox="1"/>
          <p:nvPr/>
        </p:nvSpPr>
        <p:spPr>
          <a:xfrm>
            <a:off x="8305800" y="21717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0F7C80"/>
                </a:solidFill>
                <a:latin typeface="Segoe UI" panose="020B0502040204020203" pitchFamily="34" charset="0"/>
              </a:rPr>
              <a:t>232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07B5D6-75A3-4605-A743-57C68A628393}"/>
              </a:ext>
            </a:extLst>
          </p:cNvPr>
          <p:cNvSpPr txBox="1"/>
          <p:nvPr/>
        </p:nvSpPr>
        <p:spPr>
          <a:xfrm>
            <a:off x="8280400" y="2654300"/>
            <a:ext cx="2362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structured features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D322673-31DE-2BBB-5F33-04692BB3CF21}"/>
              </a:ext>
            </a:extLst>
          </p:cNvPr>
          <p:cNvSpPr/>
          <p:nvPr/>
        </p:nvSpPr>
        <p:spPr>
          <a:xfrm>
            <a:off x="8128000" y="3276600"/>
            <a:ext cx="2667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AE77C4-E299-AD7C-9D34-64647449DD1E}"/>
              </a:ext>
            </a:extLst>
          </p:cNvPr>
          <p:cNvSpPr txBox="1"/>
          <p:nvPr/>
        </p:nvSpPr>
        <p:spPr>
          <a:xfrm>
            <a:off x="8305800" y="34417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3A86B7"/>
                </a:solidFill>
                <a:latin typeface="Segoe UI" panose="020B0502040204020203" pitchFamily="34" charset="0"/>
              </a:rPr>
              <a:t>85.8%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0A415-A90B-DC7F-463F-83E2BA79618D}"/>
              </a:ext>
            </a:extLst>
          </p:cNvPr>
          <p:cNvSpPr txBox="1"/>
          <p:nvPr/>
        </p:nvSpPr>
        <p:spPr>
          <a:xfrm>
            <a:off x="8280400" y="3924300"/>
            <a:ext cx="2362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top-1 accuracy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8E34493-02A9-0C82-E8D0-0263B7469EF6}"/>
              </a:ext>
            </a:extLst>
          </p:cNvPr>
          <p:cNvSpPr/>
          <p:nvPr/>
        </p:nvSpPr>
        <p:spPr>
          <a:xfrm>
            <a:off x="8128000" y="4546600"/>
            <a:ext cx="2667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7BD5FA-1DAB-52EF-4731-6E9128C8FE86}"/>
              </a:ext>
            </a:extLst>
          </p:cNvPr>
          <p:cNvSpPr txBox="1"/>
          <p:nvPr/>
        </p:nvSpPr>
        <p:spPr>
          <a:xfrm>
            <a:off x="8305800" y="47117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2E8B57"/>
                </a:solidFill>
                <a:latin typeface="Segoe UI" panose="020B0502040204020203" pitchFamily="34" charset="0"/>
              </a:rPr>
              <a:t>95.5%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D38F31-59DB-9DC0-5720-7C94BE2E1036}"/>
              </a:ext>
            </a:extLst>
          </p:cNvPr>
          <p:cNvSpPr txBox="1"/>
          <p:nvPr/>
        </p:nvSpPr>
        <p:spPr>
          <a:xfrm>
            <a:off x="8280400" y="5194300"/>
            <a:ext cx="2362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top-3 accuracy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771C54-9CEE-B107-98AC-BCF16FB7E419}"/>
              </a:ext>
            </a:extLst>
          </p:cNvPr>
          <p:cNvSpPr txBox="1"/>
          <p:nvPr/>
        </p:nvSpPr>
        <p:spPr>
          <a:xfrm>
            <a:off x="1320800" y="5765800"/>
            <a:ext cx="955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5C6B73"/>
                </a:solidFill>
                <a:latin typeface="Segoe UI" panose="020B0502040204020203" pitchFamily="34" charset="0"/>
              </a:rPr>
              <a:t>Training uses synthetic structured cases generated from disease profiles, so the next validation step is real patient assessment data.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E89BA-5139-41C8-2726-249C9161EF5F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CA6D75-CFE0-1C37-9824-B4716989C20B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33095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8" grpId="0"/>
      <p:bldP spid="9" grpId="0" animBg="1"/>
      <p:bldP spid="12" grpId="0"/>
      <p:bldP spid="13" grpId="0" animBg="1"/>
      <p:bldP spid="16" grpId="0"/>
      <p:bldP spid="17" grpId="0" animBg="1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/>
      <p:bldP spid="30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5BD1E-BB8A-BF9C-DCB3-AE229C28EE93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SAFETY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6F211-73A4-C483-7106-5AF34490791E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safety layer can escalate the model, but it cannot be talked down by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6867B-0986-4093-2503-0FAC23BE3B1F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This is the core defense against overtrusting ML confidence.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B24E33-35F0-E98F-3ED2-26B41FAAC16B}"/>
              </a:ext>
            </a:extLst>
          </p:cNvPr>
          <p:cNvSpPr/>
          <p:nvPr/>
        </p:nvSpPr>
        <p:spPr>
          <a:xfrm>
            <a:off x="863600" y="2260600"/>
            <a:ext cx="22352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26490-2E39-4590-2667-4143601CF11A}"/>
              </a:ext>
            </a:extLst>
          </p:cNvPr>
          <p:cNvSpPr txBox="1"/>
          <p:nvPr/>
        </p:nvSpPr>
        <p:spPr>
          <a:xfrm>
            <a:off x="1727200" y="2463800"/>
            <a:ext cx="53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>
                <a:solidFill>
                  <a:srgbClr val="D64545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4679A-6962-FCA9-FBB3-8B04BAB2B094}"/>
              </a:ext>
            </a:extLst>
          </p:cNvPr>
          <p:cNvSpPr txBox="1"/>
          <p:nvPr/>
        </p:nvSpPr>
        <p:spPr>
          <a:xfrm>
            <a:off x="1041400" y="2946400"/>
            <a:ext cx="187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72026"/>
                </a:solidFill>
                <a:latin typeface="Segoe UI" panose="020B0502040204020203" pitchFamily="34" charset="0"/>
              </a:rPr>
              <a:t>Red flags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A77D7-23BE-87A9-A226-5086EBB9AE96}"/>
              </a:ext>
            </a:extLst>
          </p:cNvPr>
          <p:cNvSpPr txBox="1"/>
          <p:nvPr/>
        </p:nvSpPr>
        <p:spPr>
          <a:xfrm>
            <a:off x="1066800" y="3302000"/>
            <a:ext cx="1828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symptoms like syncope trigger independently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D0240F-FC6E-BCC5-CCFF-52A4C9A0C8D6}"/>
              </a:ext>
            </a:extLst>
          </p:cNvPr>
          <p:cNvSpPr/>
          <p:nvPr/>
        </p:nvSpPr>
        <p:spPr>
          <a:xfrm>
            <a:off x="3606800" y="2260600"/>
            <a:ext cx="22352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61666-94F5-4A85-B6AE-A9FB4CA9B373}"/>
              </a:ext>
            </a:extLst>
          </p:cNvPr>
          <p:cNvSpPr txBox="1"/>
          <p:nvPr/>
        </p:nvSpPr>
        <p:spPr>
          <a:xfrm>
            <a:off x="4470400" y="2463800"/>
            <a:ext cx="53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>
                <a:solidFill>
                  <a:srgbClr val="F4A261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D0ED19-34EE-DC6E-794C-348C92B459D4}"/>
              </a:ext>
            </a:extLst>
          </p:cNvPr>
          <p:cNvSpPr txBox="1"/>
          <p:nvPr/>
        </p:nvSpPr>
        <p:spPr>
          <a:xfrm>
            <a:off x="3784600" y="2946400"/>
            <a:ext cx="187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72026"/>
                </a:solidFill>
                <a:latin typeface="Segoe UI" panose="020B0502040204020203" pitchFamily="34" charset="0"/>
              </a:rPr>
              <a:t>Vitals floor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1009F-C126-27C6-4A33-9DCFECF4BC7A}"/>
              </a:ext>
            </a:extLst>
          </p:cNvPr>
          <p:cNvSpPr txBox="1"/>
          <p:nvPr/>
        </p:nvSpPr>
        <p:spPr>
          <a:xfrm>
            <a:off x="3810000" y="3302000"/>
            <a:ext cx="1828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BP, HR, SpO2 create a minimum urgency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E52236-F606-663D-5FFA-B2724782EF0B}"/>
              </a:ext>
            </a:extLst>
          </p:cNvPr>
          <p:cNvSpPr/>
          <p:nvPr/>
        </p:nvSpPr>
        <p:spPr>
          <a:xfrm>
            <a:off x="6350000" y="2260600"/>
            <a:ext cx="22352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8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7A110A-0BD4-DBC2-A83B-54D2D10429C4}"/>
              </a:ext>
            </a:extLst>
          </p:cNvPr>
          <p:cNvSpPr txBox="1"/>
          <p:nvPr/>
        </p:nvSpPr>
        <p:spPr>
          <a:xfrm>
            <a:off x="7213600" y="2463800"/>
            <a:ext cx="53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>
                <a:solidFill>
                  <a:srgbClr val="3A86B7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AEE65-07EF-1B2E-F1F0-E8FC156BA135}"/>
              </a:ext>
            </a:extLst>
          </p:cNvPr>
          <p:cNvSpPr txBox="1"/>
          <p:nvPr/>
        </p:nvSpPr>
        <p:spPr>
          <a:xfrm>
            <a:off x="6527800" y="2946400"/>
            <a:ext cx="187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72026"/>
                </a:solidFill>
                <a:latin typeface="Segoe UI" panose="020B0502040204020203" pitchFamily="34" charset="0"/>
              </a:rPr>
              <a:t>ML prediction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2BF5E-05C2-B8DC-1504-FBEE3FCB47EA}"/>
              </a:ext>
            </a:extLst>
          </p:cNvPr>
          <p:cNvSpPr txBox="1"/>
          <p:nvPr/>
        </p:nvSpPr>
        <p:spPr>
          <a:xfrm>
            <a:off x="6553200" y="3302000"/>
            <a:ext cx="1828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top disease candidates and confidence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C98053-0B43-5DCE-74BA-A38588D48C1A}"/>
              </a:ext>
            </a:extLst>
          </p:cNvPr>
          <p:cNvSpPr/>
          <p:nvPr/>
        </p:nvSpPr>
        <p:spPr>
          <a:xfrm>
            <a:off x="9093200" y="2260600"/>
            <a:ext cx="2235200" cy="165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C59422-F751-FF5E-D236-75B5F7B766C5}"/>
              </a:ext>
            </a:extLst>
          </p:cNvPr>
          <p:cNvSpPr txBox="1"/>
          <p:nvPr/>
        </p:nvSpPr>
        <p:spPr>
          <a:xfrm>
            <a:off x="9956800" y="2463800"/>
            <a:ext cx="53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>
                <a:solidFill>
                  <a:srgbClr val="2E8B57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5D4F8D-C7D1-8656-0EE8-EA0ECACF0D9C}"/>
              </a:ext>
            </a:extLst>
          </p:cNvPr>
          <p:cNvSpPr txBox="1"/>
          <p:nvPr/>
        </p:nvSpPr>
        <p:spPr>
          <a:xfrm>
            <a:off x="9271000" y="2946400"/>
            <a:ext cx="187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72026"/>
                </a:solidFill>
                <a:latin typeface="Segoe UI" panose="020B0502040204020203" pitchFamily="34" charset="0"/>
              </a:rPr>
              <a:t>Caregiver alert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4DDB1-5732-F1F1-AFBA-6B224855EAFF}"/>
              </a:ext>
            </a:extLst>
          </p:cNvPr>
          <p:cNvSpPr txBox="1"/>
          <p:nvPr/>
        </p:nvSpPr>
        <p:spPr>
          <a:xfrm>
            <a:off x="9296400" y="3302000"/>
            <a:ext cx="1828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C6B73"/>
                </a:solidFill>
                <a:latin typeface="Segoe UI" panose="020B0502040204020203" pitchFamily="34" charset="0"/>
              </a:rPr>
              <a:t>high or critical cases trigger escalation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5D40C6-F502-92D3-E970-C970C26FE1DF}"/>
              </a:ext>
            </a:extLst>
          </p:cNvPr>
          <p:cNvCxnSpPr/>
          <p:nvPr/>
        </p:nvCxnSpPr>
        <p:spPr>
          <a:xfrm>
            <a:off x="3098800" y="3098800"/>
            <a:ext cx="508000" cy="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D6DB91-EF89-E243-11C0-1474528E4BE6}"/>
              </a:ext>
            </a:extLst>
          </p:cNvPr>
          <p:cNvCxnSpPr/>
          <p:nvPr/>
        </p:nvCxnSpPr>
        <p:spPr>
          <a:xfrm>
            <a:off x="5842000" y="3098800"/>
            <a:ext cx="508000" cy="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691ED0-DD16-E7B1-3229-EE72842A292B}"/>
              </a:ext>
            </a:extLst>
          </p:cNvPr>
          <p:cNvCxnSpPr/>
          <p:nvPr/>
        </p:nvCxnSpPr>
        <p:spPr>
          <a:xfrm>
            <a:off x="8585200" y="3098800"/>
            <a:ext cx="508000" cy="0"/>
          </a:xfrm>
          <a:prstGeom prst="straightConnector1">
            <a:avLst/>
          </a:prstGeom>
          <a:ln w="25400">
            <a:solidFill>
              <a:srgbClr val="0F7C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4DD1C1-09C3-4339-6EB8-B1C74F569CF9}"/>
              </a:ext>
            </a:extLst>
          </p:cNvPr>
          <p:cNvSpPr txBox="1"/>
          <p:nvPr/>
        </p:nvSpPr>
        <p:spPr>
          <a:xfrm>
            <a:off x="1905000" y="48006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172026"/>
                </a:solidFill>
                <a:latin typeface="Segoe UI" panose="020B0502040204020203" pitchFamily="34" charset="0"/>
              </a:rPr>
              <a:t>Hard rule: ML may support triage, but rule-engine red flags set the floor.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5944AF-6829-3AD3-42CD-06B59AF28BC8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06AAD9-ED6E-669D-5F23-DCD93A2ADD51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774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8AC6C-64F6-3EC8-263F-B497EE20DF3D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DEMO 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6C183-E010-882F-52F1-291703B09BC8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The demo should be narrated as one patient journey.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0B3EC-E55C-8474-3533-1310969B0AEE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A story-driven demo beats a tour of screens.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DC9961-6B92-75F0-98CE-A3EF5A6FFC6F}"/>
              </a:ext>
            </a:extLst>
          </p:cNvPr>
          <p:cNvSpPr/>
          <p:nvPr/>
        </p:nvSpPr>
        <p:spPr>
          <a:xfrm>
            <a:off x="711200" y="1905000"/>
            <a:ext cx="1066800" cy="207772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8DF9BD-B52B-0573-C681-CF2A549B2D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69" y="2006600"/>
            <a:ext cx="907662" cy="1874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DE7F35-74BB-544C-9E0B-A7E918C7F426}"/>
              </a:ext>
            </a:extLst>
          </p:cNvPr>
          <p:cNvSpPr txBox="1"/>
          <p:nvPr/>
        </p:nvSpPr>
        <p:spPr>
          <a:xfrm>
            <a:off x="660400" y="402082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setup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880C15-752B-A170-4CF7-5572527716B5}"/>
              </a:ext>
            </a:extLst>
          </p:cNvPr>
          <p:cNvSpPr/>
          <p:nvPr/>
        </p:nvSpPr>
        <p:spPr>
          <a:xfrm>
            <a:off x="2311400" y="1905000"/>
            <a:ext cx="1066800" cy="207772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E693E5-83C0-B942-8863-06D29649E8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481" y="2006600"/>
            <a:ext cx="908637" cy="1874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E06D94-B4B8-BB24-ACA3-56433C21BFD7}"/>
              </a:ext>
            </a:extLst>
          </p:cNvPr>
          <p:cNvSpPr txBox="1"/>
          <p:nvPr/>
        </p:nvSpPr>
        <p:spPr>
          <a:xfrm>
            <a:off x="2260600" y="402082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measure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D7F52CA-4B60-FF43-5513-AC7D7B7E6150}"/>
              </a:ext>
            </a:extLst>
          </p:cNvPr>
          <p:cNvSpPr/>
          <p:nvPr/>
        </p:nvSpPr>
        <p:spPr>
          <a:xfrm>
            <a:off x="3911600" y="1905000"/>
            <a:ext cx="1066800" cy="207772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19FF83-A7FA-3E8B-D0BC-819A98277A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525" y="2006600"/>
            <a:ext cx="912951" cy="18745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C6F6DA-6217-D7AA-1C5F-1EAE364813D8}"/>
              </a:ext>
            </a:extLst>
          </p:cNvPr>
          <p:cNvSpPr txBox="1"/>
          <p:nvPr/>
        </p:nvSpPr>
        <p:spPr>
          <a:xfrm>
            <a:off x="3860800" y="402082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4E1013-2647-C80D-3FC2-8544BEB2C191}"/>
              </a:ext>
            </a:extLst>
          </p:cNvPr>
          <p:cNvSpPr/>
          <p:nvPr/>
        </p:nvSpPr>
        <p:spPr>
          <a:xfrm>
            <a:off x="5511800" y="1905000"/>
            <a:ext cx="1066800" cy="207772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E7169C-A383-8BE9-2758-F9AE85E271E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286" y="2006600"/>
            <a:ext cx="913829" cy="18745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279D2A3-0C18-C8EF-B5B0-391D9E899D6A}"/>
              </a:ext>
            </a:extLst>
          </p:cNvPr>
          <p:cNvSpPr txBox="1"/>
          <p:nvPr/>
        </p:nvSpPr>
        <p:spPr>
          <a:xfrm>
            <a:off x="5461000" y="402082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dose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C85841D-800A-E49D-FC89-8E1ED9A00A03}"/>
              </a:ext>
            </a:extLst>
          </p:cNvPr>
          <p:cNvSpPr/>
          <p:nvPr/>
        </p:nvSpPr>
        <p:spPr>
          <a:xfrm>
            <a:off x="7112000" y="1905000"/>
            <a:ext cx="1066800" cy="207772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CF95E66-0171-F17D-F3E7-B79A0F3E839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992" y="2006600"/>
            <a:ext cx="904816" cy="18745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F0CA519-C293-844E-BB5E-DF49D6B051C7}"/>
              </a:ext>
            </a:extLst>
          </p:cNvPr>
          <p:cNvSpPr txBox="1"/>
          <p:nvPr/>
        </p:nvSpPr>
        <p:spPr>
          <a:xfrm>
            <a:off x="7061200" y="402082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call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8EA0D16-8688-847E-1188-0C23B7E1D7C0}"/>
              </a:ext>
            </a:extLst>
          </p:cNvPr>
          <p:cNvSpPr/>
          <p:nvPr/>
        </p:nvSpPr>
        <p:spPr>
          <a:xfrm>
            <a:off x="8712200" y="1905000"/>
            <a:ext cx="1066800" cy="2077720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64C5F3-FCF3-A80D-029E-9E7FA5266F8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531" y="2006600"/>
            <a:ext cx="904138" cy="18745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37B7567-51B0-2505-5C49-04AD45C1F068}"/>
              </a:ext>
            </a:extLst>
          </p:cNvPr>
          <p:cNvSpPr txBox="1"/>
          <p:nvPr/>
        </p:nvSpPr>
        <p:spPr>
          <a:xfrm>
            <a:off x="8661400" y="402082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C6B73"/>
                </a:solidFill>
                <a:latin typeface="Segoe UI" panose="020B0502040204020203" pitchFamily="34" charset="0"/>
              </a:rPr>
              <a:t>caregiver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0006D-CAF5-86F5-498F-7B1A7E0287BF}"/>
              </a:ext>
            </a:extLst>
          </p:cNvPr>
          <p:cNvSpPr txBox="1"/>
          <p:nvPr/>
        </p:nvSpPr>
        <p:spPr>
          <a:xfrm>
            <a:off x="1371600" y="5689600"/>
            <a:ext cx="9448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5C6B73"/>
                </a:solidFill>
                <a:latin typeface="Segoe UI" panose="020B0502040204020203" pitchFamily="34" charset="0"/>
              </a:rPr>
              <a:t>Recommended narration: a patient measures, risk is interpreted, the caregiver sees the state, medication support keeps the routine alive, and emergency calling closes the action path.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466D82-277A-309E-FC39-E8CB85651DD9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B75EFD-ECEC-CCE1-F207-F842C80F49C2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4503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8" grpId="0"/>
      <p:bldP spid="9" grpId="0" animBg="1"/>
      <p:bldP spid="12" grpId="0"/>
      <p:bldP spid="13" grpId="0" animBg="1"/>
      <p:bldP spid="16" grpId="0"/>
      <p:bldP spid="17" grpId="0" animBg="1"/>
      <p:bldP spid="20" grpId="0"/>
      <p:bldP spid="21" grpId="0" animBg="1"/>
      <p:bldP spid="24" grpId="0"/>
      <p:bldP spid="25" grpId="0" animBg="1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7D7DC-AC8C-9292-65E6-25EA82E890EE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73264-8741-6A9F-628B-C14F469E5030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engineering work is visible in the failure paths, not only the happy path.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D845E-A8CD-D8D1-06D4-F073E3AA9376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These details are the committee's evidence that the project is more than UI.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0BA860-CF78-C5BF-4894-21C84592FFF1}"/>
              </a:ext>
            </a:extLst>
          </p:cNvPr>
          <p:cNvSpPr/>
          <p:nvPr/>
        </p:nvSpPr>
        <p:spPr>
          <a:xfrm>
            <a:off x="889000" y="1930400"/>
            <a:ext cx="31750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DBBE4A-4C89-1A77-D16B-7781C8B76643}"/>
              </a:ext>
            </a:extLst>
          </p:cNvPr>
          <p:cNvSpPr txBox="1"/>
          <p:nvPr/>
        </p:nvSpPr>
        <p:spPr>
          <a:xfrm>
            <a:off x="1193800" y="22352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02A43"/>
                </a:solidFill>
                <a:latin typeface="Segoe UI" panose="020B0502040204020203" pitchFamily="34" charset="0"/>
              </a:rPr>
              <a:t>Backend safeguards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81E8F-B4F4-BFCA-16B0-09274657BE81}"/>
              </a:ext>
            </a:extLst>
          </p:cNvPr>
          <p:cNvSpPr txBox="1"/>
          <p:nvPr/>
        </p:nvSpPr>
        <p:spPr>
          <a:xfrm>
            <a:off x="1193800" y="2743200"/>
            <a:ext cx="23368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model_not_ready fallback instead of silent failure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risk-tier cooldowns for alert spam control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physiological clamps before storing values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847A9D-1B06-CA2C-BAFC-FCE1001025F2}"/>
              </a:ext>
            </a:extLst>
          </p:cNvPr>
          <p:cNvSpPr/>
          <p:nvPr/>
        </p:nvSpPr>
        <p:spPr>
          <a:xfrm>
            <a:off x="4508500" y="1930400"/>
            <a:ext cx="31750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C377E-A264-DD5E-4BCA-96EF34D6DD43}"/>
              </a:ext>
            </a:extLst>
          </p:cNvPr>
          <p:cNvSpPr txBox="1"/>
          <p:nvPr/>
        </p:nvSpPr>
        <p:spPr>
          <a:xfrm>
            <a:off x="4813300" y="22352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F7C80"/>
                </a:solidFill>
                <a:latin typeface="Segoe UI" panose="020B0502040204020203" pitchFamily="34" charset="0"/>
              </a:rPr>
              <a:t>Data rules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09EA0-824C-C88D-F779-50E0FBB8BAFF}"/>
              </a:ext>
            </a:extLst>
          </p:cNvPr>
          <p:cNvSpPr txBox="1"/>
          <p:nvPr/>
        </p:nvSpPr>
        <p:spPr>
          <a:xfrm>
            <a:off x="4813300" y="2743200"/>
            <a:ext cx="23368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- 21-table PostgreSQL schema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one active primary caregiver enforced in DB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nullable BP values represent withheld readings intentionally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EC3907-1E52-2A75-8F47-4C7980EEDEC3}"/>
              </a:ext>
            </a:extLst>
          </p:cNvPr>
          <p:cNvSpPr/>
          <p:nvPr/>
        </p:nvSpPr>
        <p:spPr>
          <a:xfrm>
            <a:off x="8128000" y="1930400"/>
            <a:ext cx="31750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61A38D-D1A3-2CCB-8C49-EC698BB86AB6}"/>
              </a:ext>
            </a:extLst>
          </p:cNvPr>
          <p:cNvSpPr txBox="1"/>
          <p:nvPr/>
        </p:nvSpPr>
        <p:spPr>
          <a:xfrm>
            <a:off x="8432800" y="22352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E8B57"/>
                </a:solidFill>
                <a:latin typeface="Segoe UI" panose="020B0502040204020203" pitchFamily="34" charset="0"/>
              </a:rPr>
              <a:t>Mobile resilience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656F2-0311-88AC-0E49-161A85BECA56}"/>
              </a:ext>
            </a:extLst>
          </p:cNvPr>
          <p:cNvSpPr txBox="1"/>
          <p:nvPr/>
        </p:nvSpPr>
        <p:spPr>
          <a:xfrm>
            <a:off x="8432800" y="2743200"/>
            <a:ext cx="23368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Hive cache for last known readings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localized push and local alarms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role-aware screens reuse shared logic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3D56C-9782-A73E-F242-3A82D073B0F6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3A8EC-DFE9-5F34-92EA-26F6EB56E558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5012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326923-8D42-18CD-A528-FB4D40D37703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D39E0-B022-E495-6DD6-22748EC60BC6}"/>
              </a:ext>
            </a:extLst>
          </p:cNvPr>
          <p:cNvSpPr txBox="1"/>
          <p:nvPr/>
        </p:nvSpPr>
        <p:spPr>
          <a:xfrm>
            <a:off x="558800" y="660400"/>
            <a:ext cx="10795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Every headline number is grounded in code or documentation.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C9D48-54ED-587C-0C31-FF871033D7CA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This slide is the answer to 'what did you actually achieve?'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8BC1E5-D368-053F-71E6-91668F1660E7}"/>
              </a:ext>
            </a:extLst>
          </p:cNvPr>
          <p:cNvSpPr/>
          <p:nvPr/>
        </p:nvSpPr>
        <p:spPr>
          <a:xfrm>
            <a:off x="914400" y="19685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A197C-B3E8-185E-008A-154F0A55F01B}"/>
              </a:ext>
            </a:extLst>
          </p:cNvPr>
          <p:cNvSpPr txBox="1"/>
          <p:nvPr/>
        </p:nvSpPr>
        <p:spPr>
          <a:xfrm>
            <a:off x="1092200" y="21336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2E8B57"/>
                </a:solidFill>
                <a:latin typeface="Segoe UI" panose="020B0502040204020203" pitchFamily="34" charset="0"/>
              </a:rPr>
              <a:t>4.91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F0CA1-66B5-9A60-3466-61335840A4E8}"/>
              </a:ext>
            </a:extLst>
          </p:cNvPr>
          <p:cNvSpPr txBox="1"/>
          <p:nvPr/>
        </p:nvSpPr>
        <p:spPr>
          <a:xfrm>
            <a:off x="1066800" y="26162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DBP MAE, AAMI pass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F799BF-53BC-4CD6-9582-DDAD54F481FD}"/>
              </a:ext>
            </a:extLst>
          </p:cNvPr>
          <p:cNvSpPr/>
          <p:nvPr/>
        </p:nvSpPr>
        <p:spPr>
          <a:xfrm>
            <a:off x="3403600" y="19685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FC180-CA15-4970-9AA3-5764BDE87CCF}"/>
              </a:ext>
            </a:extLst>
          </p:cNvPr>
          <p:cNvSpPr txBox="1"/>
          <p:nvPr/>
        </p:nvSpPr>
        <p:spPr>
          <a:xfrm>
            <a:off x="3581400" y="21336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3A86B7"/>
                </a:solidFill>
                <a:latin typeface="Segoe UI" panose="020B0502040204020203" pitchFamily="34" charset="0"/>
              </a:rPr>
              <a:t>85.8 / 95.5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904CD-2BB7-E05B-8225-F32DCFF52BC6}"/>
              </a:ext>
            </a:extLst>
          </p:cNvPr>
          <p:cNvSpPr txBox="1"/>
          <p:nvPr/>
        </p:nvSpPr>
        <p:spPr>
          <a:xfrm>
            <a:off x="3556000" y="26162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symptom top-1 / top-3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6444C5-5E7C-50C0-4307-890022955363}"/>
              </a:ext>
            </a:extLst>
          </p:cNvPr>
          <p:cNvSpPr/>
          <p:nvPr/>
        </p:nvSpPr>
        <p:spPr>
          <a:xfrm>
            <a:off x="5892800" y="19685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A68FF6-0D5F-824E-A9BD-08D93E20FCB9}"/>
              </a:ext>
            </a:extLst>
          </p:cNvPr>
          <p:cNvSpPr txBox="1"/>
          <p:nvPr/>
        </p:nvSpPr>
        <p:spPr>
          <a:xfrm>
            <a:off x="6070600" y="21336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0F7C80"/>
                </a:solidFill>
                <a:latin typeface="Segoe UI" panose="020B0502040204020203" pitchFamily="34" charset="0"/>
              </a:rPr>
              <a:t>653K+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07544-1E73-F952-C3A1-88E677DD7D32}"/>
              </a:ext>
            </a:extLst>
          </p:cNvPr>
          <p:cNvSpPr txBox="1"/>
          <p:nvPr/>
        </p:nvSpPr>
        <p:spPr>
          <a:xfrm>
            <a:off x="6045200" y="26162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signal windows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90BE1D-D6B2-4778-0403-1E3A36884861}"/>
              </a:ext>
            </a:extLst>
          </p:cNvPr>
          <p:cNvSpPr/>
          <p:nvPr/>
        </p:nvSpPr>
        <p:spPr>
          <a:xfrm>
            <a:off x="8382000" y="19685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C7457-9A12-DFDC-32C5-E0EF509B267A}"/>
              </a:ext>
            </a:extLst>
          </p:cNvPr>
          <p:cNvSpPr txBox="1"/>
          <p:nvPr/>
        </p:nvSpPr>
        <p:spPr>
          <a:xfrm>
            <a:off x="8559800" y="21336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102A43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23EAF-DA4B-D8A9-0D87-6D6A120C08F8}"/>
              </a:ext>
            </a:extLst>
          </p:cNvPr>
          <p:cNvSpPr txBox="1"/>
          <p:nvPr/>
        </p:nvSpPr>
        <p:spPr>
          <a:xfrm>
            <a:off x="8534400" y="26162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database tables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41BF79-26F7-C481-00E3-B92CC07356A5}"/>
              </a:ext>
            </a:extLst>
          </p:cNvPr>
          <p:cNvSpPr/>
          <p:nvPr/>
        </p:nvSpPr>
        <p:spPr>
          <a:xfrm>
            <a:off x="2159000" y="35814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3C2A09-55C1-1A61-A63B-15F615394AAC}"/>
              </a:ext>
            </a:extLst>
          </p:cNvPr>
          <p:cNvSpPr txBox="1"/>
          <p:nvPr/>
        </p:nvSpPr>
        <p:spPr>
          <a:xfrm>
            <a:off x="2336800" y="37465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E85D57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1301C-E360-972B-5675-AF87C4D361C7}"/>
              </a:ext>
            </a:extLst>
          </p:cNvPr>
          <p:cNvSpPr txBox="1"/>
          <p:nvPr/>
        </p:nvSpPr>
        <p:spPr>
          <a:xfrm>
            <a:off x="2311400" y="42291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custom IoT devices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31AD91-2047-6E05-C016-C45B9AA8A2A2}"/>
              </a:ext>
            </a:extLst>
          </p:cNvPr>
          <p:cNvSpPr/>
          <p:nvPr/>
        </p:nvSpPr>
        <p:spPr>
          <a:xfrm>
            <a:off x="4648200" y="35814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12521E-1572-2AA8-6475-FC06A1F51CE8}"/>
              </a:ext>
            </a:extLst>
          </p:cNvPr>
          <p:cNvSpPr txBox="1"/>
          <p:nvPr/>
        </p:nvSpPr>
        <p:spPr>
          <a:xfrm>
            <a:off x="4826000" y="37465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F4A261"/>
                </a:solidFill>
                <a:latin typeface="Segoe UI" panose="020B0502040204020203" pitchFamily="34" charset="0"/>
              </a:rPr>
              <a:t>613/614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0CE6B-A160-7A69-65A1-70A3D8BE97A2}"/>
              </a:ext>
            </a:extLst>
          </p:cNvPr>
          <p:cNvSpPr txBox="1"/>
          <p:nvPr/>
        </p:nvSpPr>
        <p:spPr>
          <a:xfrm>
            <a:off x="4800600" y="42291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EN/AR key parity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E890EA-882C-5980-18E4-61621250C0C4}"/>
              </a:ext>
            </a:extLst>
          </p:cNvPr>
          <p:cNvSpPr/>
          <p:nvPr/>
        </p:nvSpPr>
        <p:spPr>
          <a:xfrm>
            <a:off x="7137400" y="3581400"/>
            <a:ext cx="213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6D755-0850-04AA-4407-AC32B9D4F4BA}"/>
              </a:ext>
            </a:extLst>
          </p:cNvPr>
          <p:cNvSpPr txBox="1"/>
          <p:nvPr/>
        </p:nvSpPr>
        <p:spPr>
          <a:xfrm>
            <a:off x="7315200" y="3746500"/>
            <a:ext cx="177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2E8B57"/>
                </a:solidFill>
                <a:latin typeface="Segoe UI" panose="020B0502040204020203" pitchFamily="34" charset="0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BB8DDF-C92D-23C8-A946-7EAE149EE116}"/>
              </a:ext>
            </a:extLst>
          </p:cNvPr>
          <p:cNvSpPr txBox="1"/>
          <p:nvPr/>
        </p:nvSpPr>
        <p:spPr>
          <a:xfrm>
            <a:off x="7289800" y="4229100"/>
            <a:ext cx="182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5C6B73"/>
                </a:solidFill>
                <a:latin typeface="Segoe UI" panose="020B0502040204020203" pitchFamily="34" charset="0"/>
              </a:rPr>
              <a:t>targeted cross-confusion pairs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CE3673-BC58-BCD1-4BA8-C7E5057FC396}"/>
              </a:ext>
            </a:extLst>
          </p:cNvPr>
          <p:cNvSpPr txBox="1"/>
          <p:nvPr/>
        </p:nvSpPr>
        <p:spPr>
          <a:xfrm>
            <a:off x="1422400" y="5537200"/>
            <a:ext cx="9347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72026"/>
                </a:solidFill>
                <a:latin typeface="Segoe UI" panose="020B0502040204020203" pitchFamily="34" charset="0"/>
              </a:rPr>
              <a:t>The strongest proof is not one number. It is the breadth of a working chain: sensor -&gt; model -&gt; rules -&gt; database -&gt; notification -&gt; caregiver action.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EE3C51-A21A-F2FF-E8EC-C5B459471ADA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C799FE-1C9D-515A-A091-E5E8D58D5593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265389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5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4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94ECF1-23AE-DE42-2629-DDD4F4788D44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10BA1-4D85-5D4C-3D09-BE52F31C70B9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Limitations are part of the defense.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25BD0-D137-0E0E-DFF6-D10D11E311B2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Naming them early reduces surprise questions and shows engineering judgment.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6CE95-AA57-C7EB-40EF-E2C7AD6F8E5E}"/>
              </a:ext>
            </a:extLst>
          </p:cNvPr>
          <p:cNvSpPr/>
          <p:nvPr/>
        </p:nvSpPr>
        <p:spPr>
          <a:xfrm>
            <a:off x="635000" y="2209800"/>
            <a:ext cx="2904787" cy="575733"/>
          </a:xfrm>
          <a:prstGeom prst="rect">
            <a:avLst/>
          </a:prstGeom>
          <a:solidFill>
            <a:srgbClr val="D64545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56027-C954-32DA-E689-2A83E6E8A23B}"/>
              </a:ext>
            </a:extLst>
          </p:cNvPr>
          <p:cNvSpPr txBox="1"/>
          <p:nvPr/>
        </p:nvSpPr>
        <p:spPr>
          <a:xfrm>
            <a:off x="698500" y="2298700"/>
            <a:ext cx="2777787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Known gap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CF5F2-DE9C-8A0E-A9A7-013CAC43A17D}"/>
              </a:ext>
            </a:extLst>
          </p:cNvPr>
          <p:cNvSpPr/>
          <p:nvPr/>
        </p:nvSpPr>
        <p:spPr>
          <a:xfrm>
            <a:off x="3539787" y="2209800"/>
            <a:ext cx="3718128" cy="575733"/>
          </a:xfrm>
          <a:prstGeom prst="rect">
            <a:avLst/>
          </a:prstGeom>
          <a:solidFill>
            <a:srgbClr val="D64545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70AA5-A116-6A5B-C77F-C306695A9F9B}"/>
              </a:ext>
            </a:extLst>
          </p:cNvPr>
          <p:cNvSpPr txBox="1"/>
          <p:nvPr/>
        </p:nvSpPr>
        <p:spPr>
          <a:xfrm>
            <a:off x="3603287" y="2298700"/>
            <a:ext cx="359112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Why it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2B8F9-59CF-5D54-31D7-350135D68CF6}"/>
              </a:ext>
            </a:extLst>
          </p:cNvPr>
          <p:cNvSpPr/>
          <p:nvPr/>
        </p:nvSpPr>
        <p:spPr>
          <a:xfrm>
            <a:off x="7257915" y="2209800"/>
            <a:ext cx="4299085" cy="575733"/>
          </a:xfrm>
          <a:prstGeom prst="rect">
            <a:avLst/>
          </a:prstGeom>
          <a:solidFill>
            <a:srgbClr val="D64545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25A89-E182-DD19-B711-454531869348}"/>
              </a:ext>
            </a:extLst>
          </p:cNvPr>
          <p:cNvSpPr txBox="1"/>
          <p:nvPr/>
        </p:nvSpPr>
        <p:spPr>
          <a:xfrm>
            <a:off x="7321415" y="2298700"/>
            <a:ext cx="4172085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Planned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29722-823F-549D-7A61-1A9465AFE8AF}"/>
              </a:ext>
            </a:extLst>
          </p:cNvPr>
          <p:cNvSpPr/>
          <p:nvPr/>
        </p:nvSpPr>
        <p:spPr>
          <a:xfrm>
            <a:off x="635000" y="2785533"/>
            <a:ext cx="2904787" cy="57573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575DE-A7AC-599B-8B2A-7B1D594A1033}"/>
              </a:ext>
            </a:extLst>
          </p:cNvPr>
          <p:cNvSpPr txBox="1"/>
          <p:nvPr/>
        </p:nvSpPr>
        <p:spPr>
          <a:xfrm>
            <a:off x="698500" y="2874433"/>
            <a:ext cx="2777787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SBP fails AAMI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9C4B7-72A9-3E69-368A-D2C9FD08CAF8}"/>
              </a:ext>
            </a:extLst>
          </p:cNvPr>
          <p:cNvSpPr/>
          <p:nvPr/>
        </p:nvSpPr>
        <p:spPr>
          <a:xfrm>
            <a:off x="3539787" y="2785533"/>
            <a:ext cx="3718128" cy="57573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0A1E4F-63E9-2952-C87C-DFC5F35B7000}"/>
              </a:ext>
            </a:extLst>
          </p:cNvPr>
          <p:cNvSpPr txBox="1"/>
          <p:nvPr/>
        </p:nvSpPr>
        <p:spPr>
          <a:xfrm>
            <a:off x="3603287" y="2874433"/>
            <a:ext cx="359112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primary BP number is not clinical-grade yet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FDA663-388A-59E9-DBBB-2B1EF2D73A87}"/>
              </a:ext>
            </a:extLst>
          </p:cNvPr>
          <p:cNvSpPr/>
          <p:nvPr/>
        </p:nvSpPr>
        <p:spPr>
          <a:xfrm>
            <a:off x="7257915" y="2785533"/>
            <a:ext cx="4299085" cy="575734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8C6E1A-2766-A113-5C15-20F86BB3795D}"/>
              </a:ext>
            </a:extLst>
          </p:cNvPr>
          <p:cNvSpPr txBox="1"/>
          <p:nvPr/>
        </p:nvSpPr>
        <p:spPr>
          <a:xfrm>
            <a:off x="7321415" y="2874433"/>
            <a:ext cx="4172085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validate on real hardware and target SBP error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1AA30-AADF-EAFD-DED0-18AACD507B08}"/>
              </a:ext>
            </a:extLst>
          </p:cNvPr>
          <p:cNvSpPr/>
          <p:nvPr/>
        </p:nvSpPr>
        <p:spPr>
          <a:xfrm>
            <a:off x="635000" y="3361267"/>
            <a:ext cx="2904787" cy="57573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DB7159-A973-C2EB-4F28-7397A15E671A}"/>
              </a:ext>
            </a:extLst>
          </p:cNvPr>
          <p:cNvSpPr txBox="1"/>
          <p:nvPr/>
        </p:nvSpPr>
        <p:spPr>
          <a:xfrm>
            <a:off x="698500" y="3450167"/>
            <a:ext cx="2777787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BP model not tested on live sensor recordings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78C5E2-7D59-B49A-026D-A632506998D9}"/>
              </a:ext>
            </a:extLst>
          </p:cNvPr>
          <p:cNvSpPr/>
          <p:nvPr/>
        </p:nvSpPr>
        <p:spPr>
          <a:xfrm>
            <a:off x="3539787" y="3361267"/>
            <a:ext cx="3718128" cy="57573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6C0F88-2706-A6DB-A51B-D5C7898AC786}"/>
              </a:ext>
            </a:extLst>
          </p:cNvPr>
          <p:cNvSpPr txBox="1"/>
          <p:nvPr/>
        </p:nvSpPr>
        <p:spPr>
          <a:xfrm>
            <a:off x="3603287" y="3450167"/>
            <a:ext cx="359112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dataset does not equal home-use conditions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0A9B50-34BF-8DEF-6D55-EFC1ADDB2FD9}"/>
              </a:ext>
            </a:extLst>
          </p:cNvPr>
          <p:cNvSpPr/>
          <p:nvPr/>
        </p:nvSpPr>
        <p:spPr>
          <a:xfrm>
            <a:off x="7257915" y="3361267"/>
            <a:ext cx="4299085" cy="575733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C5111-DC4A-351C-B6FC-3C29F28EE504}"/>
              </a:ext>
            </a:extLst>
          </p:cNvPr>
          <p:cNvSpPr txBox="1"/>
          <p:nvPr/>
        </p:nvSpPr>
        <p:spPr>
          <a:xfrm>
            <a:off x="7321415" y="3450167"/>
            <a:ext cx="4172085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collect cuff-paired MAX30102/AD8232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0DF83B-0C7A-78BF-BA2D-04A8BEE9C9D2}"/>
              </a:ext>
            </a:extLst>
          </p:cNvPr>
          <p:cNvSpPr/>
          <p:nvPr/>
        </p:nvSpPr>
        <p:spPr>
          <a:xfrm>
            <a:off x="635000" y="3937000"/>
            <a:ext cx="2904787" cy="57573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AD459-69C9-EBEE-B245-4561BCFA0765}"/>
              </a:ext>
            </a:extLst>
          </p:cNvPr>
          <p:cNvSpPr txBox="1"/>
          <p:nvPr/>
        </p:nvSpPr>
        <p:spPr>
          <a:xfrm>
            <a:off x="698500" y="4025900"/>
            <a:ext cx="2777787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Cardiac subtype weakness in triage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3D5029-0CA0-E726-9489-519BDE0AB40D}"/>
              </a:ext>
            </a:extLst>
          </p:cNvPr>
          <p:cNvSpPr/>
          <p:nvPr/>
        </p:nvSpPr>
        <p:spPr>
          <a:xfrm>
            <a:off x="3539787" y="3937000"/>
            <a:ext cx="3718128" cy="57573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DFAA03-4AB4-FEB2-CADB-81BDB38EF138}"/>
              </a:ext>
            </a:extLst>
          </p:cNvPr>
          <p:cNvSpPr txBox="1"/>
          <p:nvPr/>
        </p:nvSpPr>
        <p:spPr>
          <a:xfrm>
            <a:off x="3603287" y="4025900"/>
            <a:ext cx="359112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the domain focus is cardiovascular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ACB058-2909-7382-9717-F5983737EABD}"/>
              </a:ext>
            </a:extLst>
          </p:cNvPr>
          <p:cNvSpPr/>
          <p:nvPr/>
        </p:nvSpPr>
        <p:spPr>
          <a:xfrm>
            <a:off x="7257915" y="3937000"/>
            <a:ext cx="4299085" cy="57573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B4734C-4E80-9C0B-F79C-5CF17BDE44E9}"/>
              </a:ext>
            </a:extLst>
          </p:cNvPr>
          <p:cNvSpPr txBox="1"/>
          <p:nvPr/>
        </p:nvSpPr>
        <p:spPr>
          <a:xfrm>
            <a:off x="7321415" y="4025900"/>
            <a:ext cx="4172085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add real assessment data and retrain baselines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55736-CCEA-AE5A-C54B-4E48BA4446B9}"/>
              </a:ext>
            </a:extLst>
          </p:cNvPr>
          <p:cNvSpPr/>
          <p:nvPr/>
        </p:nvSpPr>
        <p:spPr>
          <a:xfrm>
            <a:off x="635000" y="4512733"/>
            <a:ext cx="2904787" cy="57573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3CF1ED-4C69-5BEF-F001-1F308A358EBD}"/>
              </a:ext>
            </a:extLst>
          </p:cNvPr>
          <p:cNvSpPr txBox="1"/>
          <p:nvPr/>
        </p:nvSpPr>
        <p:spPr>
          <a:xfrm>
            <a:off x="698500" y="4601633"/>
            <a:ext cx="2777787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QR linking is unsigned/unexpired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866AC-FDDD-3661-0ADD-8E96707EC112}"/>
              </a:ext>
            </a:extLst>
          </p:cNvPr>
          <p:cNvSpPr/>
          <p:nvPr/>
        </p:nvSpPr>
        <p:spPr>
          <a:xfrm>
            <a:off x="3539787" y="4512733"/>
            <a:ext cx="3718128" cy="57573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6A051C-4B88-6608-6371-1B7A22F59F12}"/>
              </a:ext>
            </a:extLst>
          </p:cNvPr>
          <p:cNvSpPr txBox="1"/>
          <p:nvPr/>
        </p:nvSpPr>
        <p:spPr>
          <a:xfrm>
            <a:off x="3603287" y="4601633"/>
            <a:ext cx="359112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security hardening needed before production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C73B71-A743-D2EF-94A8-6ECD4B9002C6}"/>
              </a:ext>
            </a:extLst>
          </p:cNvPr>
          <p:cNvSpPr/>
          <p:nvPr/>
        </p:nvSpPr>
        <p:spPr>
          <a:xfrm>
            <a:off x="7257915" y="4512733"/>
            <a:ext cx="4299085" cy="575734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C89387-D618-50EF-DA3D-08102B87CC96}"/>
              </a:ext>
            </a:extLst>
          </p:cNvPr>
          <p:cNvSpPr txBox="1"/>
          <p:nvPr/>
        </p:nvSpPr>
        <p:spPr>
          <a:xfrm>
            <a:off x="7321415" y="4601633"/>
            <a:ext cx="4172085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sign, encrypt or expire the payload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1CCBCB-5835-79B6-8C52-3E08A7F66FA8}"/>
              </a:ext>
            </a:extLst>
          </p:cNvPr>
          <p:cNvSpPr/>
          <p:nvPr/>
        </p:nvSpPr>
        <p:spPr>
          <a:xfrm>
            <a:off x="635000" y="5088467"/>
            <a:ext cx="2904787" cy="57573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9A6ACB-CD29-EEEE-FA80-3F82F497BD11}"/>
              </a:ext>
            </a:extLst>
          </p:cNvPr>
          <p:cNvSpPr txBox="1"/>
          <p:nvPr/>
        </p:nvSpPr>
        <p:spPr>
          <a:xfrm>
            <a:off x="698500" y="5177367"/>
            <a:ext cx="2777787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 refresh-token revocation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B5C85D-28EA-0CF6-119E-4FA8B9A05C9B}"/>
              </a:ext>
            </a:extLst>
          </p:cNvPr>
          <p:cNvSpPr/>
          <p:nvPr/>
        </p:nvSpPr>
        <p:spPr>
          <a:xfrm>
            <a:off x="3539787" y="5088467"/>
            <a:ext cx="3718128" cy="57573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D8CDC1-4F2A-D027-70CA-C588CF355E94}"/>
              </a:ext>
            </a:extLst>
          </p:cNvPr>
          <p:cNvSpPr txBox="1"/>
          <p:nvPr/>
        </p:nvSpPr>
        <p:spPr>
          <a:xfrm>
            <a:off x="3603287" y="5177367"/>
            <a:ext cx="359112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standard stateless JWT tradeoff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45BD12-1BC7-4C84-8B2C-962B43292354}"/>
              </a:ext>
            </a:extLst>
          </p:cNvPr>
          <p:cNvSpPr/>
          <p:nvPr/>
        </p:nvSpPr>
        <p:spPr>
          <a:xfrm>
            <a:off x="7257915" y="5088467"/>
            <a:ext cx="4299085" cy="575733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F8A19A-7962-5428-EEA7-A16272C2B127}"/>
              </a:ext>
            </a:extLst>
          </p:cNvPr>
          <p:cNvSpPr txBox="1"/>
          <p:nvPr/>
        </p:nvSpPr>
        <p:spPr>
          <a:xfrm>
            <a:off x="7321415" y="5177367"/>
            <a:ext cx="4172085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add server-side token/session revocation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DD705C-7C4E-986B-DAC3-6B30DDC705F8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790BC7-7EE2-BE32-CB43-5B34E8666790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85787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5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4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75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45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8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15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85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12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55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19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25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26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295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33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C9487-FCFD-865F-04C0-4A42A1CD0D4D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5F4A5-784B-0660-EE7F-8705525149D3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next work is validation and hardening, not inventing a new product.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C2060-9738-7AE8-E749-66A68D7E55D4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The roadmap follows directly from measured gaps.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900ECD-D2FC-846D-2EEC-2B4051DECD17}"/>
              </a:ext>
            </a:extLst>
          </p:cNvPr>
          <p:cNvSpPr/>
          <p:nvPr/>
        </p:nvSpPr>
        <p:spPr>
          <a:xfrm>
            <a:off x="1016000" y="2032000"/>
            <a:ext cx="3048000" cy="292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27D70-C011-5FC4-782A-562AC24F4737}"/>
              </a:ext>
            </a:extLst>
          </p:cNvPr>
          <p:cNvSpPr txBox="1"/>
          <p:nvPr/>
        </p:nvSpPr>
        <p:spPr>
          <a:xfrm>
            <a:off x="1346200" y="23876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F7C80"/>
                </a:solidFill>
                <a:latin typeface="Segoe UI" panose="020B0502040204020203" pitchFamily="34" charset="0"/>
              </a:rPr>
              <a:t>Validate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C3135-728C-713F-5670-EFBB247FB1EB}"/>
              </a:ext>
            </a:extLst>
          </p:cNvPr>
          <p:cNvSpPr txBox="1"/>
          <p:nvPr/>
        </p:nvSpPr>
        <p:spPr>
          <a:xfrm>
            <a:off x="1346200" y="2921000"/>
            <a:ext cx="2286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real sensor recordings vs reference cuff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time-separated calibration samples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clinical review of remaining thresholds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0BBCA3-EC04-F184-1EE0-059575D5573E}"/>
              </a:ext>
            </a:extLst>
          </p:cNvPr>
          <p:cNvSpPr/>
          <p:nvPr/>
        </p:nvSpPr>
        <p:spPr>
          <a:xfrm>
            <a:off x="4572000" y="2032000"/>
            <a:ext cx="3048000" cy="292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86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FD9F8-40C3-8571-3CDD-FB975E8C4B0E}"/>
              </a:ext>
            </a:extLst>
          </p:cNvPr>
          <p:cNvSpPr txBox="1"/>
          <p:nvPr/>
        </p:nvSpPr>
        <p:spPr>
          <a:xfrm>
            <a:off x="4902200" y="23876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3A86B7"/>
                </a:solidFill>
                <a:latin typeface="Segoe UI" panose="020B0502040204020203" pitchFamily="34" charset="0"/>
              </a:rPr>
              <a:t>Improve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C3C3E-8EEA-4AA6-D2D0-D7B103A6F283}"/>
              </a:ext>
            </a:extLst>
          </p:cNvPr>
          <p:cNvSpPr txBox="1"/>
          <p:nvPr/>
        </p:nvSpPr>
        <p:spPr>
          <a:xfrm>
            <a:off x="4902200" y="2921000"/>
            <a:ext cx="2286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target SBP-specific error sources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investigate why complex models underperformed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strengthen cardiac subtype discrimination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0D65C6-AD76-13F2-7B8A-F33CD522A69E}"/>
              </a:ext>
            </a:extLst>
          </p:cNvPr>
          <p:cNvSpPr/>
          <p:nvPr/>
        </p:nvSpPr>
        <p:spPr>
          <a:xfrm>
            <a:off x="8128000" y="2032000"/>
            <a:ext cx="3048000" cy="2921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1F6CDF-7282-75D2-2834-46D255453DF6}"/>
              </a:ext>
            </a:extLst>
          </p:cNvPr>
          <p:cNvSpPr txBox="1"/>
          <p:nvPr/>
        </p:nvSpPr>
        <p:spPr>
          <a:xfrm>
            <a:off x="8458200" y="23876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2E8B57"/>
                </a:solidFill>
                <a:latin typeface="Segoe UI" panose="020B0502040204020203" pitchFamily="34" charset="0"/>
              </a:rPr>
              <a:t>Harden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944E3-F2FD-235E-11C6-12DA90EAF605}"/>
              </a:ext>
            </a:extLst>
          </p:cNvPr>
          <p:cNvSpPr txBox="1"/>
          <p:nvPr/>
        </p:nvSpPr>
        <p:spPr>
          <a:xfrm>
            <a:off x="8458200" y="2921000"/>
            <a:ext cx="2286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signed/expiring caregiver linking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refresh-token revocation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172026"/>
                </a:solidFill>
                <a:latin typeface="Segoe UI" panose="020B0502040204020203" pitchFamily="34" charset="0"/>
              </a:rPr>
              <a:t>- unify symptom checker generations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D7DE2-8711-40B6-FDEB-BAA601EAE175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E9BA6-469B-E8FE-5FFB-16B46B662AB3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30144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911F51-E28F-C4DD-75F1-5F9A44F0D95C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0A051-49EB-BF28-4C75-72D192D94A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 w="0">
            <a:solidFill>
              <a:srgbClr val="07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E3D2F-1530-393C-B0CE-334DB5C5CF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1193800"/>
            <a:ext cx="2286000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986C4-1C69-2EA7-9544-77D6F723E3FA}"/>
              </a:ext>
            </a:extLst>
          </p:cNvPr>
          <p:cNvSpPr txBox="1"/>
          <p:nvPr/>
        </p:nvSpPr>
        <p:spPr>
          <a:xfrm>
            <a:off x="914400" y="1498600"/>
            <a:ext cx="7112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Segoe UI" panose="020B0502040204020203" pitchFamily="34" charset="0"/>
              </a:rPr>
              <a:t>Health Mate proves the full loop.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77113-B16E-3210-68CF-A699673F6E2F}"/>
              </a:ext>
            </a:extLst>
          </p:cNvPr>
          <p:cNvSpPr txBox="1"/>
          <p:nvPr/>
        </p:nvSpPr>
        <p:spPr>
          <a:xfrm>
            <a:off x="965200" y="2616200"/>
            <a:ext cx="78740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D7F0F0"/>
                </a:solidFill>
                <a:latin typeface="Segoe UI" panose="020B0502040204020203" pitchFamily="34" charset="0"/>
              </a:rPr>
              <a:t>Custom sensing hardware, two evaluated AI subsystems, a backend that owns safety decisions, and a bilingual app that connects patients with caregivers.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9C388-2D95-BC20-3AF2-6FE5DC139831}"/>
              </a:ext>
            </a:extLst>
          </p:cNvPr>
          <p:cNvSpPr txBox="1"/>
          <p:nvPr/>
        </p:nvSpPr>
        <p:spPr>
          <a:xfrm>
            <a:off x="965200" y="4241800"/>
            <a:ext cx="8636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The project is strongest when presented honestly: what works, what passes, what does not pass yet, and exactly what comes next.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53EBF-D748-E403-1BAF-DAD4E85FE6FE}"/>
              </a:ext>
            </a:extLst>
          </p:cNvPr>
          <p:cNvSpPr txBox="1"/>
          <p:nvPr/>
        </p:nvSpPr>
        <p:spPr>
          <a:xfrm>
            <a:off x="965200" y="5613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9ECFD1"/>
                </a:solidFill>
                <a:latin typeface="Segoe UI" panose="020B0502040204020203" pitchFamily="34" charset="0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678930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DE81B-799E-71FC-65A5-3A9E72A90B53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0C23A-0B64-99A7-85E2-05D7E69935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680C8-BC21-2482-DC5D-BB3825FB2454}"/>
              </a:ext>
            </a:extLst>
          </p:cNvPr>
          <p:cNvSpPr txBox="1"/>
          <p:nvPr/>
        </p:nvSpPr>
        <p:spPr>
          <a:xfrm>
            <a:off x="889000" y="2387600"/>
            <a:ext cx="1041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Segoe UI" panose="020B0502040204020203" pitchFamily="34" charset="0"/>
              </a:rPr>
              <a:t>Appendix: likely committee questions, already prepared</a:t>
            </a:r>
          </a:p>
        </p:txBody>
      </p:sp>
    </p:spTree>
    <p:extLst>
      <p:ext uri="{BB962C8B-B14F-4D97-AF65-F5344CB8AC3E}">
        <p14:creationId xmlns:p14="http://schemas.microsoft.com/office/powerpoint/2010/main" val="233427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5C1E79-A3D6-15DC-14AB-5F90A8A0682E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B4BCC-8AE3-05AB-FD82-0D3181BDA116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Why not just use a connected cuff?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043BD-1AEB-67D6-D154-E526691E5756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Because the project target is the whole family-response loop.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B93DD-56F0-D3ED-6F2F-7C30BA70A041}"/>
              </a:ext>
            </a:extLst>
          </p:cNvPr>
          <p:cNvSpPr/>
          <p:nvPr/>
        </p:nvSpPr>
        <p:spPr>
          <a:xfrm>
            <a:off x="863600" y="1905000"/>
            <a:ext cx="2831652" cy="660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21CC2-BFA9-740E-8BA6-4B1964A7F4C1}"/>
              </a:ext>
            </a:extLst>
          </p:cNvPr>
          <p:cNvSpPr txBox="1"/>
          <p:nvPr/>
        </p:nvSpPr>
        <p:spPr>
          <a:xfrm>
            <a:off x="927100" y="1993900"/>
            <a:ext cx="27046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5DA81B-EDB5-7B07-CB76-143D2AE140A5}"/>
              </a:ext>
            </a:extLst>
          </p:cNvPr>
          <p:cNvSpPr/>
          <p:nvPr/>
        </p:nvSpPr>
        <p:spPr>
          <a:xfrm>
            <a:off x="3695252" y="1905000"/>
            <a:ext cx="7633148" cy="660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1E4DC-4BDF-D9CA-E12C-F0095A069FB2}"/>
              </a:ext>
            </a:extLst>
          </p:cNvPr>
          <p:cNvSpPr txBox="1"/>
          <p:nvPr/>
        </p:nvSpPr>
        <p:spPr>
          <a:xfrm>
            <a:off x="3758752" y="1993900"/>
            <a:ext cx="75061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Short answer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DECD42-A4FA-AF49-045F-33DE7D7534D3}"/>
              </a:ext>
            </a:extLst>
          </p:cNvPr>
          <p:cNvSpPr/>
          <p:nvPr/>
        </p:nvSpPr>
        <p:spPr>
          <a:xfrm>
            <a:off x="863600" y="2565400"/>
            <a:ext cx="2831652" cy="6604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5EFD8-5F91-7AF3-A219-1CAC0DDAB78F}"/>
              </a:ext>
            </a:extLst>
          </p:cNvPr>
          <p:cNvSpPr txBox="1"/>
          <p:nvPr/>
        </p:nvSpPr>
        <p:spPr>
          <a:xfrm>
            <a:off x="927100" y="2654300"/>
            <a:ext cx="27046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Is a cuff more clinically reliable?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322DD4-436E-7CFB-441C-B06797111EC4}"/>
              </a:ext>
            </a:extLst>
          </p:cNvPr>
          <p:cNvSpPr/>
          <p:nvPr/>
        </p:nvSpPr>
        <p:spPr>
          <a:xfrm>
            <a:off x="3695252" y="2565400"/>
            <a:ext cx="7633148" cy="6604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314BD-99E4-360A-AE17-82ED43D7BC97}"/>
              </a:ext>
            </a:extLst>
          </p:cNvPr>
          <p:cNvSpPr txBox="1"/>
          <p:nvPr/>
        </p:nvSpPr>
        <p:spPr>
          <a:xfrm>
            <a:off x="3758752" y="2654300"/>
            <a:ext cx="75061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Yes. That is why Health Mate keeps cuff calibration and does not claim SBP clinical readiness.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3FDCE-A454-44CD-490C-05986ADBEE53}"/>
              </a:ext>
            </a:extLst>
          </p:cNvPr>
          <p:cNvSpPr/>
          <p:nvPr/>
        </p:nvSpPr>
        <p:spPr>
          <a:xfrm>
            <a:off x="863600" y="3225800"/>
            <a:ext cx="2831652" cy="6604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34A656-8624-ED08-4924-513D5F535087}"/>
              </a:ext>
            </a:extLst>
          </p:cNvPr>
          <p:cNvSpPr txBox="1"/>
          <p:nvPr/>
        </p:nvSpPr>
        <p:spPr>
          <a:xfrm>
            <a:off x="927100" y="3314700"/>
            <a:ext cx="27046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Then why cuffless?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DAF1E5-FCD4-4848-57F5-224CB8A7AAAF}"/>
              </a:ext>
            </a:extLst>
          </p:cNvPr>
          <p:cNvSpPr/>
          <p:nvPr/>
        </p:nvSpPr>
        <p:spPr>
          <a:xfrm>
            <a:off x="3695252" y="3225800"/>
            <a:ext cx="7633148" cy="6604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356561-6BEF-8DCE-2D86-66565005FDBE}"/>
              </a:ext>
            </a:extLst>
          </p:cNvPr>
          <p:cNvSpPr txBox="1"/>
          <p:nvPr/>
        </p:nvSpPr>
        <p:spPr>
          <a:xfrm>
            <a:off x="3758752" y="3314700"/>
            <a:ext cx="75061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To reduce measurement friction and study whether PPG+ECG can support trend monitoring.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C8DAC1-A44F-6CF5-6FB7-B8BA433E2852}"/>
              </a:ext>
            </a:extLst>
          </p:cNvPr>
          <p:cNvSpPr/>
          <p:nvPr/>
        </p:nvSpPr>
        <p:spPr>
          <a:xfrm>
            <a:off x="863600" y="3886200"/>
            <a:ext cx="2831652" cy="6604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8486A2-7DE0-71E2-3D0F-3321BC051960}"/>
              </a:ext>
            </a:extLst>
          </p:cNvPr>
          <p:cNvSpPr txBox="1"/>
          <p:nvPr/>
        </p:nvSpPr>
        <p:spPr>
          <a:xfrm>
            <a:off x="927100" y="3975100"/>
            <a:ext cx="27046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What is the unique contribution?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B2E902-883B-ACBD-5732-1CE875ED3E6A}"/>
              </a:ext>
            </a:extLst>
          </p:cNvPr>
          <p:cNvSpPr/>
          <p:nvPr/>
        </p:nvSpPr>
        <p:spPr>
          <a:xfrm>
            <a:off x="3695252" y="3886200"/>
            <a:ext cx="7633148" cy="6604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08E7D3-24D0-A615-6AAA-80E99A153DF9}"/>
              </a:ext>
            </a:extLst>
          </p:cNvPr>
          <p:cNvSpPr txBox="1"/>
          <p:nvPr/>
        </p:nvSpPr>
        <p:spPr>
          <a:xfrm>
            <a:off x="3758752" y="3975100"/>
            <a:ext cx="75061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The integration: cuffless sensing, triage, caregiver alerts, medication hardware, and emergency calling.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439EB1-4A4D-7123-E8B6-B588F84440FB}"/>
              </a:ext>
            </a:extLst>
          </p:cNvPr>
          <p:cNvSpPr/>
          <p:nvPr/>
        </p:nvSpPr>
        <p:spPr>
          <a:xfrm>
            <a:off x="863600" y="4546600"/>
            <a:ext cx="2831652" cy="6604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368A7A-0E25-A4BE-5DD6-1D79ACF57088}"/>
              </a:ext>
            </a:extLst>
          </p:cNvPr>
          <p:cNvSpPr txBox="1"/>
          <p:nvPr/>
        </p:nvSpPr>
        <p:spPr>
          <a:xfrm>
            <a:off x="927100" y="4635500"/>
            <a:ext cx="27046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Is it production-ready?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8DC075-7CDC-2AAA-729C-5AE7046F9338}"/>
              </a:ext>
            </a:extLst>
          </p:cNvPr>
          <p:cNvSpPr/>
          <p:nvPr/>
        </p:nvSpPr>
        <p:spPr>
          <a:xfrm>
            <a:off x="3695252" y="4546600"/>
            <a:ext cx="7633148" cy="6604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1C9869-B184-E6DA-2132-51C676EAC938}"/>
              </a:ext>
            </a:extLst>
          </p:cNvPr>
          <p:cNvSpPr txBox="1"/>
          <p:nvPr/>
        </p:nvSpPr>
        <p:spPr>
          <a:xfrm>
            <a:off x="3758752" y="4635500"/>
            <a:ext cx="7506148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No. It is a graduation research prototype with a clear validation roadmap.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83BC95-2141-0B48-2568-6A71B0E92EB8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011083-5826-C8EF-85AF-519B5C82D02E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405407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5EBEA-0A63-CCC8-C594-2532006A0D9F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CF8DA-EA5D-C60D-A997-94096A0ACF51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The BP model table is deliberately not cherry-picked.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7118A-7597-C2EA-6005-456CBA9FA6AE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The best deployed BP model was selected by measured performance.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369CE-0BC6-D13D-1661-C405EFF902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82917"/>
            <a:ext cx="4953000" cy="2666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6DCF7F-2773-366E-2271-C67CCC13A2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2339731"/>
            <a:ext cx="4826000" cy="2153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60A3A7-9B15-2E2A-B3D1-A8A1A2C522CA}"/>
              </a:ext>
            </a:extLst>
          </p:cNvPr>
          <p:cNvSpPr txBox="1"/>
          <p:nvPr/>
        </p:nvSpPr>
        <p:spPr>
          <a:xfrm>
            <a:off x="1371600" y="5588000"/>
            <a:ext cx="9448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5C6B73"/>
                </a:solidFill>
                <a:latin typeface="Segoe UI" panose="020B0502040204020203" pitchFamily="34" charset="0"/>
              </a:rPr>
              <a:t>Use this slide if asked about clinical evaluation curves, error bands, or why DBP and SBP are treated differently.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E06C6-45C9-084E-9F13-D08CCF9D6DA7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EF3E26-5E22-5B94-59A3-226AD500C786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34187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ADCDB6-9D14-7949-E6B5-DBF61A959AE1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14492-5CBD-B28A-FFCE-CAB602169B90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Calibration exists in the backend, but the simulation result is not overclaimed.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419F5-1038-CFF2-1071-3FAEB724F0A2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This is a strong answer to a predictable technical question.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3281E-B1E7-B244-244A-086C13C5AC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67" y="1676400"/>
            <a:ext cx="1841265" cy="4064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1179E9-1C5C-711E-C2FD-AC59E02A8DCB}"/>
              </a:ext>
            </a:extLst>
          </p:cNvPr>
          <p:cNvSpPr/>
          <p:nvPr/>
        </p:nvSpPr>
        <p:spPr>
          <a:xfrm>
            <a:off x="4622800" y="2082800"/>
            <a:ext cx="6350000" cy="287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66E88-F47A-B10D-869B-F3D6ECB4E208}"/>
              </a:ext>
            </a:extLst>
          </p:cNvPr>
          <p:cNvSpPr txBox="1"/>
          <p:nvPr/>
        </p:nvSpPr>
        <p:spPr>
          <a:xfrm>
            <a:off x="5054600" y="2514600"/>
            <a:ext cx="5461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172026"/>
                </a:solidFill>
                <a:latin typeface="Segoe UI" panose="020B0502040204020203" pitchFamily="34" charset="0"/>
              </a:rPr>
              <a:t>- fewer than 8 paired samples use a robust median offset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172026"/>
                </a:solidFill>
                <a:latin typeface="Segoe UI" panose="020B0502040204020203" pitchFamily="34" charset="0"/>
              </a:rPr>
              <a:t>- 8 or more samples upgrade to a constrained linear fit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172026"/>
                </a:solidFill>
                <a:latin typeface="Segoe UI" panose="020B0502040204020203" pitchFamily="34" charset="0"/>
              </a:rPr>
              <a:t>- drift is flagged after sustained shifts or stale calibration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172026"/>
                </a:solidFill>
                <a:latin typeface="Segoe UI" panose="020B0502040204020203" pitchFamily="34" charset="0"/>
              </a:rPr>
              <a:t>- the oracle simulation was inconclusive because its samples were not time-separated like real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2EBE8-6C29-18DB-1625-0242035EE17E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BDC5C-D58D-AA1C-83A6-CF9CF0502139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89641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 animBg="1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31BDF-F1DA-DE89-F82F-18F56CD1877E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57657-C0E1-31D9-903D-5468A1F0CE2A}"/>
              </a:ext>
            </a:extLst>
          </p:cNvPr>
          <p:cNvSpPr txBox="1"/>
          <p:nvPr/>
        </p:nvSpPr>
        <p:spPr>
          <a:xfrm>
            <a:off x="558800" y="6604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72026"/>
                </a:solidFill>
                <a:latin typeface="Segoe UI" panose="020B0502040204020203" pitchFamily="34" charset="0"/>
              </a:rPr>
              <a:t>The symptom checker is safer because prediction and urgency are separated.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E2790-BA55-131E-BBFA-62199945E764}"/>
              </a:ext>
            </a:extLst>
          </p:cNvPr>
          <p:cNvSpPr txBox="1"/>
          <p:nvPr/>
        </p:nvSpPr>
        <p:spPr>
          <a:xfrm>
            <a:off x="584200" y="1828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Use this when asked whether the model can miss a red flag.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C6DE3-7A05-B753-AC08-7844C27299F0}"/>
              </a:ext>
            </a:extLst>
          </p:cNvPr>
          <p:cNvSpPr/>
          <p:nvPr/>
        </p:nvSpPr>
        <p:spPr>
          <a:xfrm>
            <a:off x="1397000" y="2006600"/>
            <a:ext cx="2404139" cy="584200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F953E-8441-20DC-176D-0CF38788DC72}"/>
              </a:ext>
            </a:extLst>
          </p:cNvPr>
          <p:cNvSpPr txBox="1"/>
          <p:nvPr/>
        </p:nvSpPr>
        <p:spPr>
          <a:xfrm>
            <a:off x="1460500" y="20955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ED4A9-47D1-F602-1A30-F8E1D328AEC7}"/>
              </a:ext>
            </a:extLst>
          </p:cNvPr>
          <p:cNvSpPr/>
          <p:nvPr/>
        </p:nvSpPr>
        <p:spPr>
          <a:xfrm>
            <a:off x="3801140" y="2006600"/>
            <a:ext cx="4589721" cy="584200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EA2E2-39F7-FDC6-EB72-3CDBC8D200F7}"/>
              </a:ext>
            </a:extLst>
          </p:cNvPr>
          <p:cNvSpPr txBox="1"/>
          <p:nvPr/>
        </p:nvSpPr>
        <p:spPr>
          <a:xfrm>
            <a:off x="3864640" y="2095500"/>
            <a:ext cx="446272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Owns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C18ED6-B885-2A44-89B3-C47A44590821}"/>
              </a:ext>
            </a:extLst>
          </p:cNvPr>
          <p:cNvSpPr/>
          <p:nvPr/>
        </p:nvSpPr>
        <p:spPr>
          <a:xfrm>
            <a:off x="8390861" y="2006600"/>
            <a:ext cx="2404139" cy="584200"/>
          </a:xfrm>
          <a:prstGeom prst="rect">
            <a:avLst/>
          </a:prstGeom>
          <a:solidFill>
            <a:srgbClr val="102A43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145A2-E9FB-A324-6406-A785A0E77B02}"/>
              </a:ext>
            </a:extLst>
          </p:cNvPr>
          <p:cNvSpPr txBox="1"/>
          <p:nvPr/>
        </p:nvSpPr>
        <p:spPr>
          <a:xfrm>
            <a:off x="8454361" y="20955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Can it lower urgency?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4BF37-A17D-9A3E-88C9-481729B66F47}"/>
              </a:ext>
            </a:extLst>
          </p:cNvPr>
          <p:cNvSpPr/>
          <p:nvPr/>
        </p:nvSpPr>
        <p:spPr>
          <a:xfrm>
            <a:off x="1397000" y="2590800"/>
            <a:ext cx="2404139" cy="5842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2FE48-33DB-E21C-F224-0BFBEB78201C}"/>
              </a:ext>
            </a:extLst>
          </p:cNvPr>
          <p:cNvSpPr txBox="1"/>
          <p:nvPr/>
        </p:nvSpPr>
        <p:spPr>
          <a:xfrm>
            <a:off x="1460500" y="26797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Rule engine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C49F29-DC5B-DC02-5614-8B31CC1E04F0}"/>
              </a:ext>
            </a:extLst>
          </p:cNvPr>
          <p:cNvSpPr/>
          <p:nvPr/>
        </p:nvSpPr>
        <p:spPr>
          <a:xfrm>
            <a:off x="3801140" y="2590800"/>
            <a:ext cx="4589721" cy="5842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3B76E8-62C3-B640-ABA9-80C39E5E8B72}"/>
              </a:ext>
            </a:extLst>
          </p:cNvPr>
          <p:cNvSpPr txBox="1"/>
          <p:nvPr/>
        </p:nvSpPr>
        <p:spPr>
          <a:xfrm>
            <a:off x="3864640" y="2679700"/>
            <a:ext cx="446272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red flags and vitals floor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A619AD-0A65-46A9-0F5D-28A7A57F68AC}"/>
              </a:ext>
            </a:extLst>
          </p:cNvPr>
          <p:cNvSpPr/>
          <p:nvPr/>
        </p:nvSpPr>
        <p:spPr>
          <a:xfrm>
            <a:off x="8390861" y="2590800"/>
            <a:ext cx="2404139" cy="5842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3DB3A6-BA58-FA9A-B968-FC3D3078EEC4}"/>
              </a:ext>
            </a:extLst>
          </p:cNvPr>
          <p:cNvSpPr txBox="1"/>
          <p:nvPr/>
        </p:nvSpPr>
        <p:spPr>
          <a:xfrm>
            <a:off x="8454361" y="26797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8BA7F-BB27-03CE-03F2-C6C7713275FB}"/>
              </a:ext>
            </a:extLst>
          </p:cNvPr>
          <p:cNvSpPr/>
          <p:nvPr/>
        </p:nvSpPr>
        <p:spPr>
          <a:xfrm>
            <a:off x="1397000" y="3175000"/>
            <a:ext cx="2404139" cy="5842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09C87-C4C5-6452-0556-E524F42FD759}"/>
              </a:ext>
            </a:extLst>
          </p:cNvPr>
          <p:cNvSpPr txBox="1"/>
          <p:nvPr/>
        </p:nvSpPr>
        <p:spPr>
          <a:xfrm>
            <a:off x="1460500" y="32639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LightGBM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3AE8A7-8BF7-4959-2FBA-7BC7B401D6DD}"/>
              </a:ext>
            </a:extLst>
          </p:cNvPr>
          <p:cNvSpPr/>
          <p:nvPr/>
        </p:nvSpPr>
        <p:spPr>
          <a:xfrm>
            <a:off x="3801140" y="3175000"/>
            <a:ext cx="4589721" cy="5842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ED0A0A-FFA2-4951-E01D-D078264062A7}"/>
              </a:ext>
            </a:extLst>
          </p:cNvPr>
          <p:cNvSpPr txBox="1"/>
          <p:nvPr/>
        </p:nvSpPr>
        <p:spPr>
          <a:xfrm>
            <a:off x="3864640" y="3263900"/>
            <a:ext cx="446272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top disease predictions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8D9A35-C0C0-E4F6-62E1-8C1C8EF86C7F}"/>
              </a:ext>
            </a:extLst>
          </p:cNvPr>
          <p:cNvSpPr/>
          <p:nvPr/>
        </p:nvSpPr>
        <p:spPr>
          <a:xfrm>
            <a:off x="8390861" y="3175000"/>
            <a:ext cx="2404139" cy="5842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92329-47E4-B465-2E77-C9D8982E77A3}"/>
              </a:ext>
            </a:extLst>
          </p:cNvPr>
          <p:cNvSpPr txBox="1"/>
          <p:nvPr/>
        </p:nvSpPr>
        <p:spPr>
          <a:xfrm>
            <a:off x="8454361" y="32639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D6DEB5-439F-1D57-C01D-159F995574A5}"/>
              </a:ext>
            </a:extLst>
          </p:cNvPr>
          <p:cNvSpPr/>
          <p:nvPr/>
        </p:nvSpPr>
        <p:spPr>
          <a:xfrm>
            <a:off x="1397000" y="3759200"/>
            <a:ext cx="2404139" cy="5842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3BFC3-2BED-5772-9BEE-E66214C5ABE2}"/>
              </a:ext>
            </a:extLst>
          </p:cNvPr>
          <p:cNvSpPr txBox="1"/>
          <p:nvPr/>
        </p:nvSpPr>
        <p:spPr>
          <a:xfrm>
            <a:off x="1460500" y="38481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LLM phrasing layer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EE8C36-DB96-8C0F-07C8-3375C057CBF1}"/>
              </a:ext>
            </a:extLst>
          </p:cNvPr>
          <p:cNvSpPr/>
          <p:nvPr/>
        </p:nvSpPr>
        <p:spPr>
          <a:xfrm>
            <a:off x="3801140" y="3759200"/>
            <a:ext cx="4589721" cy="5842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D5F919-EFD4-0613-B325-F1BB5000550F}"/>
              </a:ext>
            </a:extLst>
          </p:cNvPr>
          <p:cNvSpPr txBox="1"/>
          <p:nvPr/>
        </p:nvSpPr>
        <p:spPr>
          <a:xfrm>
            <a:off x="3864640" y="3848100"/>
            <a:ext cx="446272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wording only, optional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48ADEB-A005-6398-665A-9F8C953B6456}"/>
              </a:ext>
            </a:extLst>
          </p:cNvPr>
          <p:cNvSpPr/>
          <p:nvPr/>
        </p:nvSpPr>
        <p:spPr>
          <a:xfrm>
            <a:off x="8390861" y="3759200"/>
            <a:ext cx="2404139" cy="584200"/>
          </a:xfrm>
          <a:prstGeom prst="rect">
            <a:avLst/>
          </a:prstGeom>
          <a:solidFill>
            <a:srgbClr val="FBFDF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D26EEA-4BE7-5E44-EE66-67E02367E0F5}"/>
              </a:ext>
            </a:extLst>
          </p:cNvPr>
          <p:cNvSpPr txBox="1"/>
          <p:nvPr/>
        </p:nvSpPr>
        <p:spPr>
          <a:xfrm>
            <a:off x="8454361" y="38481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0EF53F-824D-3344-A21A-CD97E2D52F11}"/>
              </a:ext>
            </a:extLst>
          </p:cNvPr>
          <p:cNvSpPr/>
          <p:nvPr/>
        </p:nvSpPr>
        <p:spPr>
          <a:xfrm>
            <a:off x="1397000" y="4343400"/>
            <a:ext cx="2404139" cy="5842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92538A-5223-E0A7-1E39-3D83EF69C31C}"/>
              </a:ext>
            </a:extLst>
          </p:cNvPr>
          <p:cNvSpPr txBox="1"/>
          <p:nvPr/>
        </p:nvSpPr>
        <p:spPr>
          <a:xfrm>
            <a:off x="1460500" y="44323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Caregiver notification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42AEEB-B117-4D30-11CA-9C4B9C77A644}"/>
              </a:ext>
            </a:extLst>
          </p:cNvPr>
          <p:cNvSpPr/>
          <p:nvPr/>
        </p:nvSpPr>
        <p:spPr>
          <a:xfrm>
            <a:off x="3801140" y="4343400"/>
            <a:ext cx="4589721" cy="5842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C21F85-4A77-4A3D-AB56-19B018B57E0B}"/>
              </a:ext>
            </a:extLst>
          </p:cNvPr>
          <p:cNvSpPr txBox="1"/>
          <p:nvPr/>
        </p:nvSpPr>
        <p:spPr>
          <a:xfrm>
            <a:off x="3864640" y="4432300"/>
            <a:ext cx="4462721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high/critical escalation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52FCB9-EAA8-A6FF-12D5-77145C7CCDFD}"/>
              </a:ext>
            </a:extLst>
          </p:cNvPr>
          <p:cNvSpPr/>
          <p:nvPr/>
        </p:nvSpPr>
        <p:spPr>
          <a:xfrm>
            <a:off x="8390861" y="4343400"/>
            <a:ext cx="2404139" cy="58420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B22A84-25FD-91D0-7B8B-D6096B3C9F2B}"/>
              </a:ext>
            </a:extLst>
          </p:cNvPr>
          <p:cNvSpPr txBox="1"/>
          <p:nvPr/>
        </p:nvSpPr>
        <p:spPr>
          <a:xfrm>
            <a:off x="8454361" y="4432300"/>
            <a:ext cx="2277139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000000"/>
                </a:solidFill>
                <a:latin typeface="Segoe UI" panose="020B0502040204020203" pitchFamily="34" charset="0"/>
              </a:rPr>
              <a:t>No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134460-7414-49AB-F46A-2E250179A395}"/>
              </a:ext>
            </a:extLst>
          </p:cNvPr>
          <p:cNvSpPr txBox="1"/>
          <p:nvPr/>
        </p:nvSpPr>
        <p:spPr>
          <a:xfrm>
            <a:off x="1778000" y="5461000"/>
            <a:ext cx="8636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172026"/>
                </a:solidFill>
                <a:latin typeface="Segoe UI" panose="020B0502040204020203" pitchFamily="34" charset="0"/>
              </a:rPr>
              <a:t>The model can help explain likely disease classes; it cannot suppress a rule-engine red flag.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49607A-26F7-22F0-C37A-5BD2980892B8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81368F-2B9A-E2A8-FD5F-8098ECBC2B51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94425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9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3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5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4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75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45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8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15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85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12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55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E1E562-0C89-9A2E-8767-4AE12C768FDA}"/>
              </a:ext>
            </a:extLst>
          </p:cNvPr>
          <p:cNvSpPr txBox="1"/>
          <p:nvPr/>
        </p:nvSpPr>
        <p:spPr>
          <a:xfrm>
            <a:off x="558800" y="33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F7C80"/>
                </a:solidFill>
                <a:latin typeface="Segoe UI" panose="020B0502040204020203" pitchFamily="34" charset="0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20B3A-9491-8ADE-1F28-5439E8973FEA}"/>
              </a:ext>
            </a:extLst>
          </p:cNvPr>
          <p:cNvSpPr txBox="1"/>
          <p:nvPr/>
        </p:nvSpPr>
        <p:spPr>
          <a:xfrm>
            <a:off x="558800" y="660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72026"/>
                </a:solidFill>
                <a:latin typeface="Segoe UI" panose="020B0502040204020203" pitchFamily="34" charset="0"/>
              </a:rPr>
              <a:t>Sources used inside the deck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6BEF0-CB6F-D408-ED0B-35C9BFCEBE82}"/>
              </a:ext>
            </a:extLst>
          </p:cNvPr>
          <p:cNvSpPr txBox="1"/>
          <p:nvPr/>
        </p:nvSpPr>
        <p:spPr>
          <a:xfrm>
            <a:off x="584200" y="12954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B73"/>
                </a:solidFill>
                <a:latin typeface="Segoe UI" panose="020B0502040204020203" pitchFamily="34" charset="0"/>
              </a:rPr>
              <a:t>Local project documentation is the primary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71352-83A8-E8AD-9AF6-E2C898D8E1A9}"/>
              </a:ext>
            </a:extLst>
          </p:cNvPr>
          <p:cNvSpPr txBox="1"/>
          <p:nvPr/>
        </p:nvSpPr>
        <p:spPr>
          <a:xfrm>
            <a:off x="1397000" y="1905000"/>
            <a:ext cx="93980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solidFill>
                  <a:srgbClr val="172026"/>
                </a:solidFill>
                <a:latin typeface="Segoe UI" panose="020B0502040204020203" pitchFamily="34" charset="0"/>
              </a:rPr>
              <a:t>- Docs/PRD.md, ARCHITECTURE.md, FRONTEND.md, BACKEND.md, DATABASE.md, IOT.md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172026"/>
                </a:solidFill>
                <a:latin typeface="Segoe UI" panose="020B0502040204020203" pitchFamily="34" charset="0"/>
              </a:rPr>
              <a:t>- Docs/BP_PREDICTION.md and Docs/SYMPTOM_CHECKER.md for metrics and limitations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172026"/>
                </a:solidFill>
                <a:latin typeface="Segoe UI" panose="020B0502040204020203" pitchFamily="34" charset="0"/>
              </a:rPr>
              <a:t>- assets/branding screenshots, diagrams, model figures, university and faculty logos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172026"/>
                </a:solidFill>
                <a:latin typeface="Segoe UI" panose="020B0502040204020203" pitchFamily="34" charset="0"/>
              </a:rPr>
              <a:t>- Reference deck TAFANEEN .pptx.pdf for academic coverage pattern and comparison/table expectations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172026"/>
                </a:solidFill>
                <a:latin typeface="Segoe UI" panose="020B0502040204020203" pitchFamily="34" charset="0"/>
              </a:rPr>
              <a:t>- Presentation research: Duarte/TED storytelling structure and Kawasaki 10/20/30 pacing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380B3-CE54-426C-E368-A1B93190CFCF}"/>
              </a:ext>
            </a:extLst>
          </p:cNvPr>
          <p:cNvSpPr txBox="1"/>
          <p:nvPr/>
        </p:nvSpPr>
        <p:spPr>
          <a:xfrm>
            <a:off x="558800" y="6502400"/>
            <a:ext cx="609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Health Mate - Zagazig University - 2025/2026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55542-B52B-182D-ED5D-CF2C556594BE}"/>
              </a:ext>
            </a:extLst>
          </p:cNvPr>
          <p:cNvSpPr txBox="1"/>
          <p:nvPr/>
        </p:nvSpPr>
        <p:spPr>
          <a:xfrm>
            <a:off x="11455400" y="65024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C6B73"/>
                </a:solidFill>
                <a:latin typeface="Segoe UI" panose="020B0502040204020203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68156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2177</Words>
  <Application>Microsoft Office PowerPoint</Application>
  <PresentationFormat>Custom</PresentationFormat>
  <Paragraphs>394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Ashraf Kamal</dc:creator>
  <cp:lastModifiedBy>Omar Ashraf Kamal</cp:lastModifiedBy>
  <cp:revision>1</cp:revision>
  <dcterms:created xsi:type="dcterms:W3CDTF">2026-07-08T15:44:12Z</dcterms:created>
  <dcterms:modified xsi:type="dcterms:W3CDTF">2026-07-08T15:44:12Z</dcterms:modified>
</cp:coreProperties>
</file>